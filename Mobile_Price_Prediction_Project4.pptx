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Mobile Price Prediction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7498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75569"/>
                </a:solidFill>
              </a:defRPr>
            </a:pPr>
            <a:r>
              <a:rPr dirty="0"/>
              <a:t>Data Exploration • EDA • Machine Learning • Business Insights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rPr dirty="0"/>
              <a:t> 531 Smartphone Records</a:t>
            </a:r>
            <a:endParaRPr lang="en-US" dirty="0"/>
          </a:p>
          <a:p>
            <a:pPr algn="ctr">
              <a:defRPr sz="1800">
                <a:solidFill>
                  <a:srgbClr val="475569"/>
                </a:solidFill>
              </a:defRPr>
            </a:pPr>
            <a:endParaRPr lang="en-US" dirty="0"/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rPr lang="en-US" dirty="0"/>
              <a:t>BY SHIVANGINI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 &amp; 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319921"/>
            <a:ext cx="8412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Objective: Build a data-driven mobile price prediction system using 531 smartphone listings with specifications (Model, RAM, Memory, Battery, Camera, Processor, AI Lens, etc.).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Approach: Data cleaning → Univariate &amp; Bivariate EDA → Multivariate correlation → Feature engineering → Label encoding → Standardization → Ensemble ML models.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Final Model: Tuned </a:t>
            </a:r>
            <a:r>
              <a:rPr sz="1600" dirty="0" err="1"/>
              <a:t>XGBoost</a:t>
            </a:r>
            <a:r>
              <a:rPr sz="1600" dirty="0"/>
              <a:t> (Anti-Overfit) selected as winner — R² = 0.6167 on test data; 83.18% predictions within ±20% error margin.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Key Finding: Brand (36.36%) and Total Camera MP (31.50%) drive ~68% of predictive power; budget-to-mid-range segment (₹8,000–₹20,000) dominates the dataset.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Business Value: Enables pricing intelligence for retailers, competitive benchmarking, and data-backed launch pricing for budget/mid-range smartphones.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 1: Data Exploration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169679"/>
            <a:ext cx="841248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Dataset: 531 mobile entries | 187 unique models | 275 unique </a:t>
            </a:r>
            <a:r>
              <a:rPr sz="1600" dirty="0" err="1"/>
              <a:t>colours</a:t>
            </a:r>
            <a:r>
              <a:rPr sz="1600" dirty="0"/>
              <a:t> | 123 unique processors | 0 missing values.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Duplicates: 10 duplicate rows identified and removed during data cleaning.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Price: Mean ₹16,305.77 | Min ₹920 | Max ₹80,999 | Median ₹13,999 (50% phones below ₹13,999).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Hardware: Avg RAM 5.4 GB (max 8 GB) | Median storage 128 GB (max 256 GB) | Avg battery 4,873.87 </a:t>
            </a:r>
            <a:r>
              <a:rPr sz="1600" dirty="0" err="1"/>
              <a:t>mAh</a:t>
            </a:r>
            <a:r>
              <a:rPr sz="1600" dirty="0"/>
              <a:t> (max 7,000 </a:t>
            </a:r>
            <a:r>
              <a:rPr sz="1600" dirty="0" err="1"/>
              <a:t>mAh</a:t>
            </a:r>
            <a:r>
              <a:rPr sz="1600" dirty="0"/>
              <a:t>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Camera: 50MP rear camera most popular (255 entries) | 16MP front camera leads (162 entries) | Top </a:t>
            </a:r>
            <a:r>
              <a:rPr sz="1600" dirty="0" err="1"/>
              <a:t>colour</a:t>
            </a:r>
            <a:r>
              <a:rPr sz="1600" dirty="0"/>
              <a:t>: Yellow (12 listings).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Data fixes: 'MP' stripped from camera columns | 17 unrealistic Mobile Height values (4.50–41.94 cm) replaced with median 16.76 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Univariate Analysis — Top 15 Mobile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top15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06707"/>
            <a:ext cx="8109646" cy="42313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59" y="5138093"/>
            <a:ext cx="819813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Horizontal bar chart showing listing frequency of top 15 models.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 err="1"/>
              <a:t>realme</a:t>
            </a:r>
            <a:r>
              <a:rPr sz="1400" dirty="0"/>
              <a:t> C55, REDMI Note 12 Pro 5G, vivo Y16, Samsung Galaxy A14 5G lead with 9 listings each; </a:t>
            </a:r>
            <a:r>
              <a:rPr sz="1400" dirty="0" err="1"/>
              <a:t>Infinix</a:t>
            </a:r>
            <a:r>
              <a:rPr sz="1400" dirty="0"/>
              <a:t> HOT 30i, REDMI 10, vivo T1 44W have 8 each.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Max frequency is only 9 out of 524 records — no single model overrepresented; reduces ML bias.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Dataset covers popular budget/mid-range models from Realme, Redmi, Vivo, Samsung, </a:t>
            </a:r>
            <a:r>
              <a:rPr sz="1400" dirty="0" err="1"/>
              <a:t>Infinix</a:t>
            </a:r>
            <a:r>
              <a:rPr sz="1400" dirty="0"/>
              <a:t> — suitable for generalized price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Univariate Analysis — Colour Distribution (Top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3_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224192" cy="38281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64745"/>
            <a:ext cx="831612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Bar chart (counts) + Pie chart (% share) for top 10 </a:t>
            </a:r>
            <a:r>
              <a:rPr sz="1400" dirty="0" err="1"/>
              <a:t>colours</a:t>
            </a:r>
            <a:r>
              <a:rPr sz="1400" dirty="0"/>
              <a:t>; 275 unique </a:t>
            </a:r>
            <a:r>
              <a:rPr sz="1400" dirty="0" err="1"/>
              <a:t>colour</a:t>
            </a:r>
            <a:r>
              <a:rPr sz="1400" dirty="0"/>
              <a:t> values total.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Yellow: 12 listings (16.7%) | Power Black &amp; Black: 8 each (11.1%) | Royal Blue, Cool Blue, Midnight Black: 7 each (9.7%).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Distribution is balanced — no single </a:t>
            </a:r>
            <a:r>
              <a:rPr sz="1400" dirty="0" err="1"/>
              <a:t>colour</a:t>
            </a:r>
            <a:r>
              <a:rPr sz="1400" dirty="0"/>
              <a:t> dominates among top 10.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Dark </a:t>
            </a:r>
            <a:r>
              <a:rPr sz="1400" dirty="0" err="1"/>
              <a:t>colours</a:t>
            </a:r>
            <a:r>
              <a:rPr sz="1400" dirty="0"/>
              <a:t> (Black variants) remain consumer </a:t>
            </a:r>
            <a:r>
              <a:rPr sz="1400" dirty="0" err="1"/>
              <a:t>favourites</a:t>
            </a:r>
            <a:r>
              <a:rPr sz="1400" dirty="0"/>
              <a:t>; </a:t>
            </a:r>
            <a:r>
              <a:rPr sz="1400" dirty="0" err="1"/>
              <a:t>colour</a:t>
            </a:r>
            <a:r>
              <a:rPr sz="1400" dirty="0"/>
              <a:t> naming inconsistency (275 values) was later standardized via </a:t>
            </a:r>
            <a:r>
              <a:rPr sz="1400" dirty="0" err="1"/>
              <a:t>Colour_Category</a:t>
            </a:r>
            <a:r>
              <a:rPr sz="14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Univariate Analysis — AI Lens Presence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ell41_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5617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292608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Pie chart of AI Lens feature availability across 531 smartphones.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93.6% phones WITHOUT AI Lens | Only 6.4% WITH AI Lens — highly imbalanced feature.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Low variability reduces AI Lens importance in price prediction models.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AI Lens is not yet a standard market feature; manufacturers focus on core specs (RAM, Memory, Processor, Camera) over AI Lens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Univariate Analysis — Numerical Feature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ell44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19"/>
            <a:ext cx="5394960" cy="53226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292608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3×3 histogram grid with KDE for Memory, RAM, Battery, Rear/Front Camera, Mobile Height, Price.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Memory: Skew 1.03 (64–128 GB dominant) | RAM: Skew 0.06 (symmetric, 4–8 GB) | Battery: Skew -3.33 (5000 </a:t>
            </a:r>
            <a:r>
              <a:rPr sz="1400" dirty="0" err="1"/>
              <a:t>mAh</a:t>
            </a:r>
            <a:r>
              <a:rPr sz="1400" dirty="0"/>
              <a:t> peak).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Rear Camera: Skew 1.81 (50 MP dominant) | Price: Skew 2.41 (budget/mid-range concentration).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Most market volume sits in affordable segments; premium outliers represent niche flagship segment.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Univariate Analysis — Box Plots &amp; Outlier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ell46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292608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Box plots revealing spread and outliers for all numerical features.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IQR Outliers: Memory 55 | Battery 148 | Rear Camera 39 | Front Camera 13 | Mobile Height 32 | Price 25 | RAM 0.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Price: Majority in ₹9,000–₹20,000; flagships ₹35,000–₹80,999+ are genuine outliers (retained for training).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Premium devices create right-skewed pricing; tree-based models (Random Forest, </a:t>
            </a:r>
            <a:r>
              <a:rPr sz="1400" dirty="0" err="1"/>
              <a:t>XGBoost</a:t>
            </a:r>
            <a:r>
              <a:rPr sz="1400" dirty="0"/>
              <a:t>) handle these outliers robustly.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 Quality Fix — Mobile Height After Median Imputation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bile_height_after_im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8165200" cy="3843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987904"/>
            <a:ext cx="8286627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Histogram + box plot after correcting 17 impossible height values (4.50, 6.10, 41.94 cm, etc.).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Corrected Range: 12.70–17.65 cm | Mean 16.68 cm | Median 16.76 cm | Skewness -3.973 | Kurtosis 32.156.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Mean and median are very close — smartphones cluster around 16–17 cm height.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Data quality correction prevents model learning from erroneous physical dimensions; essential for reliable feature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Top 10 Models by Average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2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8106205" cy="3958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622" y="5208289"/>
            <a:ext cx="863075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Bar chart of average price for top 10 most expensive models (187 unique models total).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APPLE iPhone 14 Plus: ₹80,999 (highest) | SAMSUNG Galaxy S23 5G: ₹79,999 | Top 10 range: ~₹40,000–₹81,000.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Apple, Samsung, Google, Motorola dominate premium segment.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Brand reputation and flagship positioning strongly drive premium pricing beyond raw specifications.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Price vs Memory (Storage)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ivariate_price_vs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125870" cy="359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1948" y="4801091"/>
            <a:ext cx="797396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Box plot of price distribution across memory variants (16 GB – 256 GB, 5 unique variants).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Higher storage configurations generally associate with higher price spread and upper quartile values.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Memory correlation with Price: 0.56 (strongest predictor in EDA heatmap).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Storage tier is a key pricing lever — 128 GB and 256 GB variants command premium over 32/64 GB entry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Top 10 Colours by Average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ivariate_colour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8312683" cy="3934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026354"/>
            <a:ext cx="826696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Horizontal bar chart showing average price for top 10 highest-priced </a:t>
            </a:r>
            <a:r>
              <a:rPr sz="1400" dirty="0" err="1"/>
              <a:t>colour</a:t>
            </a:r>
            <a:r>
              <a:rPr sz="1400" dirty="0"/>
              <a:t> variants.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275 unique </a:t>
            </a:r>
            <a:r>
              <a:rPr sz="1400" dirty="0" err="1"/>
              <a:t>colours</a:t>
            </a:r>
            <a:r>
              <a:rPr sz="1400" dirty="0"/>
              <a:t> </a:t>
            </a:r>
            <a:r>
              <a:rPr sz="1400" dirty="0" err="1"/>
              <a:t>analysed</a:t>
            </a:r>
            <a:r>
              <a:rPr sz="1400" dirty="0"/>
              <a:t>; premium </a:t>
            </a:r>
            <a:r>
              <a:rPr sz="1400" dirty="0" err="1"/>
              <a:t>colour</a:t>
            </a:r>
            <a:r>
              <a:rPr sz="1400" dirty="0"/>
              <a:t> variants correlate with flagship model availability.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 err="1"/>
              <a:t>Colour_Category_Encoded</a:t>
            </a:r>
            <a:r>
              <a:rPr sz="1400" dirty="0"/>
              <a:t> later shows only 0.06 correlation with price — cosmetic factor has minimal pricing impact.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</a:t>
            </a:r>
            <a:r>
              <a:rPr sz="1400" dirty="0" err="1"/>
              <a:t>Colour</a:t>
            </a:r>
            <a:r>
              <a:rPr sz="1400" dirty="0"/>
              <a:t> choice affects SKU variety but not core pricing strategy; focus pricing on specs and brand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Average Price by 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5_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001000" cy="34234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4064" y="4830693"/>
            <a:ext cx="6969105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Line plot with markers showing average price increasing with RAM capacity.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8 GB RAM → highest average price | 2 GB RAM → lowest average price; consistent upward trend.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RAM correlation with Price: 0.53 — second strongest numeric predictor.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RAM is a visible performance indicator for consumers; upgrading RAM justifies mid-to-premium price positioning.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Battery vs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6_bat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7955279" cy="3602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04146"/>
            <a:ext cx="795528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Scatter plot of battery capacity (800–7,000 </a:t>
            </a:r>
            <a:r>
              <a:rPr sz="1400" dirty="0" err="1"/>
              <a:t>mAh</a:t>
            </a:r>
            <a:r>
              <a:rPr sz="1400" dirty="0"/>
              <a:t>) against price.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No strong linear relationship — 5000 </a:t>
            </a:r>
            <a:r>
              <a:rPr sz="1400" dirty="0" err="1"/>
              <a:t>mAh</a:t>
            </a:r>
            <a:r>
              <a:rPr sz="1400" dirty="0"/>
              <a:t> phones span entire price range from budget to premium.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Battery correlation with Price: -0.05 (negligible).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Large battery (5000 </a:t>
            </a:r>
            <a:r>
              <a:rPr sz="1400" dirty="0" err="1"/>
              <a:t>mAh</a:t>
            </a:r>
            <a:r>
              <a:rPr sz="1400" dirty="0"/>
              <a:t>) is now table-stakes in mid-range; battery alone cannot justify premium pricing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Camera vs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7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6" y="2684206"/>
            <a:ext cx="8412480" cy="3445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841248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Dual bar charts — average price by Rear Camera MP (left) and Front Camera MP (right).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Rear: 12 MP &amp; 200 MP have highest avg prices; Front: 12 MP highest, then 60 MP &amp; 50 MP flagship variants.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Rear Camera </a:t>
            </a:r>
            <a:r>
              <a:rPr sz="1400" dirty="0" err="1"/>
              <a:t>corr</a:t>
            </a:r>
            <a:r>
              <a:rPr sz="1400" dirty="0"/>
              <a:t>: 0.41 | Front Camera </a:t>
            </a:r>
            <a:r>
              <a:rPr sz="1400" dirty="0" err="1"/>
              <a:t>corr</a:t>
            </a:r>
            <a:r>
              <a:rPr sz="1400" dirty="0"/>
              <a:t>: 0.53 with Price.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Camera megapixels signal premium positioning; combined </a:t>
            </a:r>
            <a:r>
              <a:rPr sz="1400" dirty="0" err="1"/>
              <a:t>Total_Camera_MP</a:t>
            </a:r>
            <a:r>
              <a:rPr sz="1400" dirty="0"/>
              <a:t> became a key engineered feature (31.50% model importance).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AI Lens vs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8_ai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2861187"/>
            <a:ext cx="8259096" cy="3261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841248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Box plot comparing price distribution for phones with vs without AI Lens.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Without AI Lens: wider price range with high-priced outliers (premium flagships). With AI Lens: narrow, lower-to-mid segment.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AI Lens correlation with Price: -0.16 — does not increase price.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AI Lens is not a premium differentiator yet; invest in camera MP and brand equity for pricing power.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Mobile Height vs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09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2998840"/>
            <a:ext cx="8298426" cy="3411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841248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Scatter plot of phone height (cm) against price after data cleaning.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Mobile Height correlation with Price: 0.17 (very weak) — size has minimal pricing influence.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Most devices cluster at 16.5–17.0 cm regardless of price tier.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Physical dimensions are standardized; pricing strategy should not rely on phone size as a value driver.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Bivariate Analysis — Processor Count &amp; Average Price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10_proc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26658"/>
            <a:ext cx="8503920" cy="3365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841248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Dual panel — Top 12 processors by count (left) and by average price (right); 123 unique processors.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Most frequent: Qualcomm Snapdragon 680 (33 variants) | Premium: Snapdragon 8 Gen 2, Google Tensor G2, iOS chips.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Processor type significantly impacts price — flagship chipsets command substantially higher prices.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Chipset tier is critical for segment positioning; budget chips (</a:t>
            </a:r>
            <a:r>
              <a:rPr sz="1400" dirty="0" err="1"/>
              <a:t>Unisoc</a:t>
            </a:r>
            <a:r>
              <a:rPr sz="1400" dirty="0"/>
              <a:t>, Helio A22) anchor entry-level pricing.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Multivariate Analysis — Pairplot of Numerical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ultivariate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309792" cy="5585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7866" y="1365571"/>
            <a:ext cx="5051814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Corner </a:t>
            </a:r>
            <a:r>
              <a:rPr sz="1400" dirty="0" err="1"/>
              <a:t>pairplot</a:t>
            </a:r>
            <a:r>
              <a:rPr sz="1400" dirty="0"/>
              <a:t> showing pairwise relationships among Memory, RAM, Battery, Cameras, Height, Price.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Visible linear trends between Memory/RAM and Price; scatter clouds show non-linear premium segment behavior.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Memory–RAM positive co-movement visible; Battery–Height correlation observable.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Confirms multi-feature interactions require ensemble/tree models rather than simple linear regression.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Multivariate Analysis — Correlation Heatmap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11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292608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Heatmap of all numeric features with annotated correlation coefficients.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Price correlations: Memory 0.56 | RAM 0.53 | Front Camera 0.53 | Rear Camera 0.41 | AI Lens -0.16 | Battery -0.05.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Feature pairs: Memory–RAM 0.62 | Battery–Mobile Height 0.68.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Prioritize Memory, RAM, and Camera specs for pricing models; deprioritize Battery and AI Lens as standalone price drivers.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 3: Feature Engineering — Engineered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da_12_engineered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1381"/>
            <a:ext cx="6155977" cy="5492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7612" y="1005840"/>
            <a:ext cx="2190627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Count plots for </a:t>
            </a:r>
            <a:r>
              <a:rPr sz="1400" dirty="0" err="1"/>
              <a:t>Colour_Category</a:t>
            </a:r>
            <a:r>
              <a:rPr sz="1400" dirty="0"/>
              <a:t>, Brand, and </a:t>
            </a:r>
            <a:r>
              <a:rPr sz="1400" dirty="0" err="1"/>
              <a:t>Processor_category</a:t>
            </a:r>
            <a:r>
              <a:rPr sz="1400" dirty="0"/>
              <a:t> after feature engineering.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Brand counts: </a:t>
            </a:r>
            <a:r>
              <a:rPr sz="1400" dirty="0" err="1"/>
              <a:t>realme</a:t>
            </a:r>
            <a:r>
              <a:rPr sz="1400" dirty="0"/>
              <a:t> 97 | Redmi 74 | </a:t>
            </a:r>
            <a:r>
              <a:rPr sz="1400" dirty="0" err="1"/>
              <a:t>Infinix</a:t>
            </a:r>
            <a:r>
              <a:rPr sz="1400" dirty="0"/>
              <a:t> 65 | vivo 60 | POCO 58 | Samsung 53 | Motorola 45.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 err="1"/>
              <a:t>Processor_category</a:t>
            </a:r>
            <a:r>
              <a:rPr sz="1400" dirty="0"/>
              <a:t>: </a:t>
            </a:r>
            <a:r>
              <a:rPr sz="1400" dirty="0" err="1"/>
              <a:t>Mediatek</a:t>
            </a:r>
            <a:r>
              <a:rPr sz="1400" dirty="0"/>
              <a:t> 280 | Qualcomm 129 | </a:t>
            </a:r>
            <a:r>
              <a:rPr sz="1400" dirty="0" err="1"/>
              <a:t>Unisoc</a:t>
            </a:r>
            <a:r>
              <a:rPr sz="1400" dirty="0"/>
              <a:t> 69 | </a:t>
            </a:r>
            <a:r>
              <a:rPr sz="1400" dirty="0" err="1"/>
              <a:t>Exynos</a:t>
            </a:r>
            <a:r>
              <a:rPr sz="1400" dirty="0"/>
              <a:t> 28.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New features: </a:t>
            </a:r>
            <a:r>
              <a:rPr sz="1400" dirty="0" err="1"/>
              <a:t>Total_Camera_MP</a:t>
            </a:r>
            <a:r>
              <a:rPr sz="1400" dirty="0"/>
              <a:t> (</a:t>
            </a:r>
            <a:r>
              <a:rPr sz="1400" dirty="0" err="1"/>
              <a:t>Rear+Front</a:t>
            </a:r>
            <a:r>
              <a:rPr sz="1400" dirty="0"/>
              <a:t>), Brand, </a:t>
            </a:r>
            <a:r>
              <a:rPr sz="1400" dirty="0" err="1"/>
              <a:t>Colour_Category</a:t>
            </a:r>
            <a:r>
              <a:rPr sz="1400" dirty="0"/>
              <a:t>, </a:t>
            </a:r>
            <a:r>
              <a:rPr sz="1400" dirty="0" err="1"/>
              <a:t>Processor_category</a:t>
            </a:r>
            <a:r>
              <a:rPr sz="1400" dirty="0"/>
              <a:t>; dropped redundant raw columns.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 4: Label Encoding — Correlation Heatmap (Final Features)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ell11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05840"/>
            <a:ext cx="292608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Correlation heatmap after label encoding — 531 records, 10 features ready for modeling.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 err="1"/>
              <a:t>Total_Camera_MP</a:t>
            </a:r>
            <a:r>
              <a:rPr sz="1400" dirty="0"/>
              <a:t> </a:t>
            </a:r>
            <a:r>
              <a:rPr sz="1400" dirty="0" err="1"/>
              <a:t>corr</a:t>
            </a:r>
            <a:r>
              <a:rPr sz="1400" dirty="0"/>
              <a:t> with Price: 0.48 | Memory 0.56 | RAM 0.53 | Battery -0.05.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Weak price drivers: AI Lens (-0.16), </a:t>
            </a:r>
            <a:r>
              <a:rPr sz="1400" dirty="0" err="1"/>
              <a:t>Processor_Category</a:t>
            </a:r>
            <a:r>
              <a:rPr sz="1400" dirty="0"/>
              <a:t> (-0.11), </a:t>
            </a:r>
            <a:r>
              <a:rPr sz="1400" dirty="0" err="1"/>
              <a:t>Colour_Category</a:t>
            </a:r>
            <a:r>
              <a:rPr sz="1400" dirty="0"/>
              <a:t> (0.06).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Performance/storage specs outweigh aesthetics; engineered features capture pricing signals more efficiently.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 9–12: Model Evaluation — Actual vs Predicted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val_01_actual_vs_predicted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82341"/>
            <a:ext cx="8001000" cy="33941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59" y="4653608"/>
            <a:ext cx="826696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Scatter plots vs ideal diagonal — Linear Regression (R² 0.2374) | Extra Trees (R² 0.5761) | Tuned </a:t>
            </a:r>
            <a:r>
              <a:rPr sz="1400" dirty="0" err="1"/>
              <a:t>XGBoost</a:t>
            </a:r>
            <a:r>
              <a:rPr sz="1400" dirty="0"/>
              <a:t> (R² 0.6167).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Best accuracy in ₹5,000–₹25,000 range; all models underpredict flagships above ₹40,000.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Leaderboard: Extra Trees R² 0.6777 MAE ₹1,791.96 | Tuned </a:t>
            </a:r>
            <a:r>
              <a:rPr sz="1400" dirty="0" err="1"/>
              <a:t>XGBoost</a:t>
            </a:r>
            <a:r>
              <a:rPr sz="1400" dirty="0"/>
              <a:t> R² 0.6156 MAE ₹2,304.50 | Linear Regression R² 0.2374.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CV Best: </a:t>
            </a:r>
            <a:r>
              <a:rPr sz="1400" dirty="0" err="1"/>
              <a:t>XGBoost</a:t>
            </a:r>
            <a:r>
              <a:rPr sz="1400" dirty="0"/>
              <a:t> avg R² 0.6275; Hyperparameter tuning improved to 0.6812; Anti-overfit final test R² 0.6156.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 13: Feature Importance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_importan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960120"/>
            <a:ext cx="8086541" cy="3692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8593" y="4725862"/>
            <a:ext cx="773798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Graph Reading: Horizontal bar chart of feature contribution % to Random Forest price prediction model.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 err="1"/>
              <a:t>Brand_Encoded</a:t>
            </a:r>
            <a:r>
              <a:rPr sz="1400" dirty="0"/>
              <a:t> 36.36% | </a:t>
            </a:r>
            <a:r>
              <a:rPr sz="1400" dirty="0" err="1"/>
              <a:t>Total_Camera_MP</a:t>
            </a:r>
            <a:r>
              <a:rPr sz="1400" dirty="0"/>
              <a:t> 31.50% | Memory 11.71% | RAM 6.77% | Battery_ 6.15% | Mobile Height 4.68%.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Minimal: </a:t>
            </a:r>
            <a:r>
              <a:rPr sz="1400" dirty="0" err="1"/>
              <a:t>Processor_category</a:t>
            </a:r>
            <a:r>
              <a:rPr sz="1400" dirty="0"/>
              <a:t> 1.93% | </a:t>
            </a:r>
            <a:r>
              <a:rPr sz="1400" dirty="0" err="1"/>
              <a:t>Colour_Category</a:t>
            </a:r>
            <a:r>
              <a:rPr sz="1400" dirty="0"/>
              <a:t> 0.81% | AI Lens 0.11%.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1E293B"/>
                </a:solidFill>
              </a:defRPr>
            </a:pPr>
            <a:r>
              <a:rPr sz="1400" dirty="0"/>
              <a:t>Business Insight: Brand + Camera = ~68% of pricing power; premium pricing driven by reputation and hardware, not </a:t>
            </a:r>
            <a:r>
              <a:rPr sz="1400" dirty="0" err="1"/>
              <a:t>colour</a:t>
            </a:r>
            <a:r>
              <a:rPr sz="1400" dirty="0"/>
              <a:t> or AI Lens.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Recommendations &amp; Final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26611"/>
            <a:ext cx="841248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Deploy Tuned </a:t>
            </a:r>
            <a:r>
              <a:rPr sz="1600" dirty="0" err="1"/>
              <a:t>XGBoost</a:t>
            </a:r>
            <a:r>
              <a:rPr sz="1600" dirty="0"/>
              <a:t> for price estimation: 37.38% within ±5%, 61.68% within ±10%, 73.83% within ±15%, 83.18% within ±20% error.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Pricing Strategy: Anchor prices on Brand equity + Camera MP + Memory/RAM tiers; do not over-weight battery capacity or </a:t>
            </a:r>
            <a:r>
              <a:rPr sz="1600" dirty="0" err="1"/>
              <a:t>colour</a:t>
            </a:r>
            <a:r>
              <a:rPr sz="1600" dirty="0"/>
              <a:t> variants.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Segment Focus: Model excels in budget/mid-range (₹5,000–₹25,000); add brand prestige scores &amp; benchmark data to improve flagship (₹40,000+) predictions.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Product Portfolio: Prioritize 128 GB / 6–8 GB RAM / 50 MP camera configurations — highest market correlation with consumer price expectations.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Data Governance: Standardize </a:t>
            </a:r>
            <a:r>
              <a:rPr sz="1600" dirty="0" err="1"/>
              <a:t>colour</a:t>
            </a:r>
            <a:r>
              <a:rPr sz="1600" dirty="0"/>
              <a:t> naming (275→categories), validate physical specs (height), and expand dataset with display quality &amp; launch year.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1E293B"/>
                </a:solidFill>
              </a:defRPr>
            </a:pPr>
            <a:r>
              <a:rPr sz="1600" dirty="0"/>
              <a:t>Conclusion: Ensemble ML (Tuned </a:t>
            </a:r>
            <a:r>
              <a:rPr sz="1600" dirty="0" err="1"/>
              <a:t>XGBoost</a:t>
            </a:r>
            <a:r>
              <a:rPr sz="1600" dirty="0"/>
              <a:t>, R² 0.6167) effectively captures non-linear smartphone pricing; project delivers actionable pricing intelligence for the Indian mobile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2381</Words>
  <Application>Microsoft Office PowerPoint</Application>
  <PresentationFormat>On-screen Show (4:3)</PresentationFormat>
  <Paragraphs>154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Shivangini Jha</cp:lastModifiedBy>
  <cp:revision>2</cp:revision>
  <dcterms:created xsi:type="dcterms:W3CDTF">2013-01-27T09:14:16Z</dcterms:created>
  <dcterms:modified xsi:type="dcterms:W3CDTF">2026-07-07T21:13:37Z</dcterms:modified>
  <cp:category/>
</cp:coreProperties>
</file>