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C40205A4-EE70-44A6-8458-B234C2CEE0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535A25-71B2-49A3-87F3-6EE586EEE2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347CF8D6-DD5E-4181-B668-0A9A51238BA8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6B35FC98-5525-4083-BC54-5D8130255CEB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OPENING THESIS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DCD78E-2A46-44D0-905E-3AE2A74FD8CD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Smartphone pricing is explainable when the model focuses on brand, camera, memory, and RAM.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6CE0A5-D495-488E-9673-D1F7044280AD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A notebook-backed business story built from project4.ipynb, with exact graph outputs and metrics preserved.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FCB626-09BF-42E4-80EC-A0C140839385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6FC5F6-7D07-41F5-A0D2-2C0276255421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01/25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C5BB92-1E98-459A-AA8F-1DAC59451AF7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3238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65240E-FC00-48DA-A7E5-3CE49A70FB89}"/>
              </a:ext>
            </a:extLst>
          </p:cNvPr>
          <p:cNvSpPr>
            <a:spLocks noGrp="1"/>
          </p:cNvSpPr>
          <p:nvPr/>
        </p:nvSpPr>
        <p:spPr>
          <a:xfrm>
            <a:off x="800100" y="3019425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531 cleaned listings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D4F945-DD25-4188-B4A6-14E854C7CC83}"/>
              </a:ext>
            </a:extLst>
          </p:cNvPr>
          <p:cNvSpPr>
            <a:spLocks noGrp="1"/>
          </p:cNvSpPr>
          <p:nvPr/>
        </p:nvSpPr>
        <p:spPr>
          <a:xfrm>
            <a:off x="800100" y="3267075"/>
            <a:ext cx="2724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531 cleaned listings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125215-7CD6-439D-84C1-DA07AB1D313D}"/>
              </a:ext>
            </a:extLst>
          </p:cNvPr>
          <p:cNvSpPr>
            <a:spLocks noGrp="1"/>
          </p:cNvSpPr>
          <p:nvPr/>
        </p:nvSpPr>
        <p:spPr>
          <a:xfrm>
            <a:off x="4324350" y="2857500"/>
            <a:ext cx="3238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4B47B1-0BB4-4638-A678-0F787F2BD1CC}"/>
              </a:ext>
            </a:extLst>
          </p:cNvPr>
          <p:cNvSpPr>
            <a:spLocks noGrp="1"/>
          </p:cNvSpPr>
          <p:nvPr/>
        </p:nvSpPr>
        <p:spPr>
          <a:xfrm>
            <a:off x="4514850" y="3019425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187 unique models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323436-E9E6-44D1-9E06-C9B621DBE339}"/>
              </a:ext>
            </a:extLst>
          </p:cNvPr>
          <p:cNvSpPr>
            <a:spLocks noGrp="1"/>
          </p:cNvSpPr>
          <p:nvPr/>
        </p:nvSpPr>
        <p:spPr>
          <a:xfrm>
            <a:off x="4514850" y="3267075"/>
            <a:ext cx="2724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187 unique models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CD0EC-7FAF-4C0B-B6B9-A937412C0FFF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3238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7F8406-6987-406F-931D-794C14F8C40B}"/>
              </a:ext>
            </a:extLst>
          </p:cNvPr>
          <p:cNvSpPr>
            <a:spLocks noGrp="1"/>
          </p:cNvSpPr>
          <p:nvPr/>
        </p:nvSpPr>
        <p:spPr>
          <a:xfrm>
            <a:off x="800099" y="4162425"/>
            <a:ext cx="1528321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8716F"/>
                </a:solidFill>
                <a:latin typeface="Aptos"/>
                <a:ea typeface="Aptos"/>
                <a:cs typeface="Aptos"/>
              </a:rPr>
              <a:t>Rs 16,305.77 mean price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AFCE2-B792-4959-BF4C-51ADD91FE459}"/>
              </a:ext>
            </a:extLst>
          </p:cNvPr>
          <p:cNvSpPr>
            <a:spLocks noGrp="1"/>
          </p:cNvSpPr>
          <p:nvPr/>
        </p:nvSpPr>
        <p:spPr>
          <a:xfrm>
            <a:off x="800100" y="4391025"/>
            <a:ext cx="2724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59646A"/>
                </a:solidFill>
                <a:latin typeface="Aptos"/>
                <a:ea typeface="Aptos"/>
                <a:cs typeface="Aptos"/>
              </a:rPr>
              <a:t>Rs 16,305.77 mean price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258C7C-F83E-43EC-A79E-DB47793C61A4}"/>
              </a:ext>
            </a:extLst>
          </p:cNvPr>
          <p:cNvSpPr>
            <a:spLocks noGrp="1"/>
          </p:cNvSpPr>
          <p:nvPr/>
        </p:nvSpPr>
        <p:spPr>
          <a:xfrm>
            <a:off x="4324350" y="3981450"/>
            <a:ext cx="3238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440358-F69B-407C-9349-9E596FDC5114}"/>
              </a:ext>
            </a:extLst>
          </p:cNvPr>
          <p:cNvSpPr>
            <a:spLocks noGrp="1"/>
          </p:cNvSpPr>
          <p:nvPr/>
        </p:nvSpPr>
        <p:spPr>
          <a:xfrm>
            <a:off x="4514850" y="4143375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R2 0.6156 final model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6E158B-3A56-4FB1-8048-2E2B35BF3643}"/>
              </a:ext>
            </a:extLst>
          </p:cNvPr>
          <p:cNvSpPr>
            <a:spLocks noGrp="1"/>
          </p:cNvSpPr>
          <p:nvPr/>
        </p:nvSpPr>
        <p:spPr>
          <a:xfrm>
            <a:off x="4514850" y="4391025"/>
            <a:ext cx="2724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R2 0.6156 final model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F2E770-7384-4F0E-B6CA-FA4FAB99751D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8B1083-0FC0-4E67-B41D-2B1615994174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C2CB14-749B-4203-A1F4-EA08E5AB69DC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story is not just prediction; it is which product signals deserve pricing attention.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C3DC7E-A7C3-4716-852C-B872ADAB781F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8B0537-9B75-448B-9085-BBB0F57C9847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790D94-A7F1-431F-8C5C-8EDDC163093E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Use this model as decision support for price bands and product positioning.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D57549-8420-4243-9547-09DB897E8DFB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5117C3-12F3-4F57-80E8-A61F3B77B614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Brand + camera dominate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121B1D1-007A-42F9-89B1-1C4600A81AD7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9BDBE7-35F6-4C5C-9467-D9C8250FD100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Memory/RAM refine tiers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D2E502-A195-4863-86A3-73EF345C0A73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B10B136-0A04-49F0-9323-67000DAE572A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AI Lens is weak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AE12703-A95B-4B7F-9FC3-7238B20A9661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95C5756-D9E8-4A55-87E8-0218E5D09DE2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Use as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2031373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4B90967D-8913-4DB0-8F5B-CD71C65C87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E1BE07-C31C-4C1F-82D7-B767501424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F7F39145-322E-4D09-8660-62AEFDC92BE8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787A60DF-A2E4-4538-9C48-8694730B039C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STORY ARC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295FAB-B57A-47F8-8E93-1B0AC65C45F9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The analysis moves from catalog cleanup to a business pricing playbook.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12BDD8-C667-4E1C-B3C3-28BE16037C4E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workflow is load data, clean it, explore the market, engineer features, train models, and convert results into recommendations.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C8AFD7-0206-499E-95B9-0AD89FBA3EC3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036163-16E0-41B1-AEE3-3BF0BD188DF8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02/25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4077A7-9F13-446B-962B-5D1499598159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3238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B3261C-01E9-417B-92FD-0C3D1D99B0C5}"/>
              </a:ext>
            </a:extLst>
          </p:cNvPr>
          <p:cNvSpPr>
            <a:spLocks noGrp="1"/>
          </p:cNvSpPr>
          <p:nvPr/>
        </p:nvSpPr>
        <p:spPr>
          <a:xfrm>
            <a:off x="800100" y="3019425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541 raw rows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E0E3E9-CE12-4242-80F8-0E60937F45D1}"/>
              </a:ext>
            </a:extLst>
          </p:cNvPr>
          <p:cNvSpPr>
            <a:spLocks noGrp="1"/>
          </p:cNvSpPr>
          <p:nvPr/>
        </p:nvSpPr>
        <p:spPr>
          <a:xfrm>
            <a:off x="800100" y="3267075"/>
            <a:ext cx="2724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541 raw rows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276392-E140-4148-BE52-6EED21D9C7C0}"/>
              </a:ext>
            </a:extLst>
          </p:cNvPr>
          <p:cNvSpPr>
            <a:spLocks noGrp="1"/>
          </p:cNvSpPr>
          <p:nvPr/>
        </p:nvSpPr>
        <p:spPr>
          <a:xfrm>
            <a:off x="4324350" y="2857500"/>
            <a:ext cx="3238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E22456-6642-4832-8F58-FC4247A6450C}"/>
              </a:ext>
            </a:extLst>
          </p:cNvPr>
          <p:cNvSpPr>
            <a:spLocks noGrp="1"/>
          </p:cNvSpPr>
          <p:nvPr/>
        </p:nvSpPr>
        <p:spPr>
          <a:xfrm>
            <a:off x="4514850" y="3019425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10 duplicates removed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5008A0-39F5-4619-A740-6C1BD0BE4947}"/>
              </a:ext>
            </a:extLst>
          </p:cNvPr>
          <p:cNvSpPr>
            <a:spLocks noGrp="1"/>
          </p:cNvSpPr>
          <p:nvPr/>
        </p:nvSpPr>
        <p:spPr>
          <a:xfrm>
            <a:off x="4514850" y="3267075"/>
            <a:ext cx="2724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10 duplicates removed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D6717F-6B7D-4C1E-98C3-F610646C6BDE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3238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84EE1C-7B0B-461D-998B-2D98568F807A}"/>
              </a:ext>
            </a:extLst>
          </p:cNvPr>
          <p:cNvSpPr>
            <a:spLocks noGrp="1"/>
          </p:cNvSpPr>
          <p:nvPr/>
        </p:nvSpPr>
        <p:spPr>
          <a:xfrm>
            <a:off x="800100" y="4143375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424 train / 107 test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52DA68-E93E-45AC-8423-960BAAD020B0}"/>
              </a:ext>
            </a:extLst>
          </p:cNvPr>
          <p:cNvSpPr>
            <a:spLocks noGrp="1"/>
          </p:cNvSpPr>
          <p:nvPr/>
        </p:nvSpPr>
        <p:spPr>
          <a:xfrm>
            <a:off x="800100" y="4391025"/>
            <a:ext cx="2724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424 train / 107 test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0B2A1F-C469-4E9E-9068-116CC44BEBF1}"/>
              </a:ext>
            </a:extLst>
          </p:cNvPr>
          <p:cNvSpPr>
            <a:spLocks noGrp="1"/>
          </p:cNvSpPr>
          <p:nvPr/>
        </p:nvSpPr>
        <p:spPr>
          <a:xfrm>
            <a:off x="4324350" y="3981450"/>
            <a:ext cx="3238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7956AB-27A2-4834-B97E-9BFE205BB4BD}"/>
              </a:ext>
            </a:extLst>
          </p:cNvPr>
          <p:cNvSpPr>
            <a:spLocks noGrp="1"/>
          </p:cNvSpPr>
          <p:nvPr/>
        </p:nvSpPr>
        <p:spPr>
          <a:xfrm>
            <a:off x="4514850" y="4143375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7 models compared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A8C450-F2BD-4235-8DA9-6AEFEF55232A}"/>
              </a:ext>
            </a:extLst>
          </p:cNvPr>
          <p:cNvSpPr>
            <a:spLocks noGrp="1"/>
          </p:cNvSpPr>
          <p:nvPr/>
        </p:nvSpPr>
        <p:spPr>
          <a:xfrm>
            <a:off x="4514850" y="4391025"/>
            <a:ext cx="2724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7 models compared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C77B04-B36E-4315-A947-E584A995011D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D89A22-ED19-4863-839B-47375746F542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537A41-F36D-4EF7-A458-FB6A3CC658C6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pricing model is only useful if stakeholders trust the data and understand the drivers.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F8656E-0E28-4FEF-A2BB-0752CBE0D4B3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6ECD98-30AB-4830-AD33-0CBFCDE5043B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A46B4C-F369-4AC0-9455-2E590326BB24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Present recommendations after proving data quality and driver logic.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B5D5C2-5CFF-496B-898A-13187EB4049F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DE41F02-FA38-4C74-A0AD-FC7AD2390DEC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Data -&gt; Evidence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7CDEEF-08FE-4A50-89B7-929675D94804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1A0E69C-05FB-4A25-9428-949FD63627E6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Evidence -&gt; Drivers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7975B23-6006-4CB8-8754-87AC85E2474A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633177A-66C0-44F1-8E8F-4A5F5DB7672E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Drivers -&gt; Model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41B32B0-5883-4009-9039-036FEDCFF874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F3B000C-1A5F-4667-A88A-05B834B233C2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Model -&gt; Action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7D8376E-9238-41B2-BEBC-7BD23336D471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914400" cy="3429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E817DC4-E1C8-4CB0-8848-062E84B11B2E}"/>
              </a:ext>
            </a:extLst>
          </p:cNvPr>
          <p:cNvSpPr>
            <a:spLocks noGrp="1"/>
          </p:cNvSpPr>
          <p:nvPr/>
        </p:nvSpPr>
        <p:spPr>
          <a:xfrm>
            <a:off x="723900" y="5838825"/>
            <a:ext cx="800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0CDC4A4-1CF1-4411-82EB-22D39D4A3B53}"/>
              </a:ext>
            </a:extLst>
          </p:cNvPr>
          <p:cNvSpPr>
            <a:spLocks noGrp="1"/>
          </p:cNvSpPr>
          <p:nvPr/>
        </p:nvSpPr>
        <p:spPr>
          <a:xfrm>
            <a:off x="1628775" y="5781675"/>
            <a:ext cx="171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6718529-DB16-4AD7-9F71-085185D48462}"/>
              </a:ext>
            </a:extLst>
          </p:cNvPr>
          <p:cNvSpPr>
            <a:spLocks noGrp="1"/>
          </p:cNvSpPr>
          <p:nvPr/>
        </p:nvSpPr>
        <p:spPr>
          <a:xfrm>
            <a:off x="1866900" y="5753100"/>
            <a:ext cx="914400" cy="3429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F2F090-5EB3-4483-9F16-F1E8E856A150}"/>
              </a:ext>
            </a:extLst>
          </p:cNvPr>
          <p:cNvSpPr>
            <a:spLocks noGrp="1"/>
          </p:cNvSpPr>
          <p:nvPr/>
        </p:nvSpPr>
        <p:spPr>
          <a:xfrm>
            <a:off x="1924050" y="5838825"/>
            <a:ext cx="800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Clean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408DF2F-D461-450D-B6F1-A378AE774043}"/>
              </a:ext>
            </a:extLst>
          </p:cNvPr>
          <p:cNvSpPr>
            <a:spLocks noGrp="1"/>
          </p:cNvSpPr>
          <p:nvPr/>
        </p:nvSpPr>
        <p:spPr>
          <a:xfrm>
            <a:off x="2828925" y="5781675"/>
            <a:ext cx="171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9CB87C-5945-4352-A20E-728F3636615B}"/>
              </a:ext>
            </a:extLst>
          </p:cNvPr>
          <p:cNvSpPr>
            <a:spLocks noGrp="1"/>
          </p:cNvSpPr>
          <p:nvPr/>
        </p:nvSpPr>
        <p:spPr>
          <a:xfrm>
            <a:off x="3067050" y="5753100"/>
            <a:ext cx="914400" cy="3429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F36E9FB-B7D5-45E9-A3A1-C1B9A0E5151B}"/>
              </a:ext>
            </a:extLst>
          </p:cNvPr>
          <p:cNvSpPr>
            <a:spLocks noGrp="1"/>
          </p:cNvSpPr>
          <p:nvPr/>
        </p:nvSpPr>
        <p:spPr>
          <a:xfrm>
            <a:off x="3124200" y="5838825"/>
            <a:ext cx="800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Explore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CC52873-84A8-4C20-B925-0BE6430A3AC3}"/>
              </a:ext>
            </a:extLst>
          </p:cNvPr>
          <p:cNvSpPr>
            <a:spLocks noGrp="1"/>
          </p:cNvSpPr>
          <p:nvPr/>
        </p:nvSpPr>
        <p:spPr>
          <a:xfrm>
            <a:off x="4029075" y="5781675"/>
            <a:ext cx="171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9F5F410-F54C-485C-BF44-69CB5C867B63}"/>
              </a:ext>
            </a:extLst>
          </p:cNvPr>
          <p:cNvSpPr>
            <a:spLocks noGrp="1"/>
          </p:cNvSpPr>
          <p:nvPr/>
        </p:nvSpPr>
        <p:spPr>
          <a:xfrm>
            <a:off x="4267200" y="5753100"/>
            <a:ext cx="914400" cy="3429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466433D-8960-440C-953B-AC19A30CC1E7}"/>
              </a:ext>
            </a:extLst>
          </p:cNvPr>
          <p:cNvSpPr>
            <a:spLocks noGrp="1"/>
          </p:cNvSpPr>
          <p:nvPr/>
        </p:nvSpPr>
        <p:spPr>
          <a:xfrm>
            <a:off x="4324350" y="5838825"/>
            <a:ext cx="800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Engineer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CD8C9FF-D5F6-4FC9-BEB3-F191E068493D}"/>
              </a:ext>
            </a:extLst>
          </p:cNvPr>
          <p:cNvSpPr>
            <a:spLocks noGrp="1"/>
          </p:cNvSpPr>
          <p:nvPr/>
        </p:nvSpPr>
        <p:spPr>
          <a:xfrm>
            <a:off x="5229225" y="5781675"/>
            <a:ext cx="171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C0186AE-F51A-4F4C-9B7F-85A229B92849}"/>
              </a:ext>
            </a:extLst>
          </p:cNvPr>
          <p:cNvSpPr>
            <a:spLocks noGrp="1"/>
          </p:cNvSpPr>
          <p:nvPr/>
        </p:nvSpPr>
        <p:spPr>
          <a:xfrm>
            <a:off x="5467350" y="5753100"/>
            <a:ext cx="914400" cy="3429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77F02F7-CC23-4932-8FA8-00B094748A6E}"/>
              </a:ext>
            </a:extLst>
          </p:cNvPr>
          <p:cNvSpPr>
            <a:spLocks noGrp="1"/>
          </p:cNvSpPr>
          <p:nvPr/>
        </p:nvSpPr>
        <p:spPr>
          <a:xfrm>
            <a:off x="5524500" y="5838825"/>
            <a:ext cx="800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853ADA6-FE65-4956-B2D7-F1020C1706E4}"/>
              </a:ext>
            </a:extLst>
          </p:cNvPr>
          <p:cNvSpPr>
            <a:spLocks noGrp="1"/>
          </p:cNvSpPr>
          <p:nvPr/>
        </p:nvSpPr>
        <p:spPr>
          <a:xfrm>
            <a:off x="6429375" y="5781675"/>
            <a:ext cx="171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9A91AC3-0820-4C76-946A-C04FF892FE00}"/>
              </a:ext>
            </a:extLst>
          </p:cNvPr>
          <p:cNvSpPr>
            <a:spLocks noGrp="1"/>
          </p:cNvSpPr>
          <p:nvPr/>
        </p:nvSpPr>
        <p:spPr>
          <a:xfrm>
            <a:off x="6667500" y="5753100"/>
            <a:ext cx="914400" cy="3429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111BCC6-4EBA-4C2F-88C4-10F3E1044F78}"/>
              </a:ext>
            </a:extLst>
          </p:cNvPr>
          <p:cNvSpPr>
            <a:spLocks noGrp="1"/>
          </p:cNvSpPr>
          <p:nvPr/>
        </p:nvSpPr>
        <p:spPr>
          <a:xfrm>
            <a:off x="6724650" y="5838825"/>
            <a:ext cx="800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Recommend</a:t>
            </a:r>
          </a:p>
        </p:txBody>
      </p:sp>
    </p:spTree>
    <p:extLst>
      <p:ext uri="{BB962C8B-B14F-4D97-AF65-F5344CB8AC3E}">
        <p14:creationId xmlns:p14="http://schemas.microsoft.com/office/powerpoint/2010/main" val="426079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0D432314-28F2-443D-A3F5-A3F257AACD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9C4242-9177-4B55-97E2-92476C04D4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CEF39847-1DA7-4204-8ECD-A388D29DE0A5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0F217F7F-96D8-4629-A9C1-798B432EE2DC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DATA TRUST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EC1737-1852-4BC1-B99B-34E13E667D52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The dataset is usable because missing values are zero and major quality issues were treated.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1782AE-2E68-4E65-9B8E-E6F91F3FB9AB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notebook reports 0 missing values in every column, removes 10 duplicate rows, and replaces 17 unrealistic height values with median 16.76 cm.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A6E82F-E06F-4592-95E6-D03A3A1B46CA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441A16-13E3-4912-A73F-C679BAB87339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03/25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4372C9-5BB4-4860-A995-4F84E3FD4DD4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3238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F67E69-9629-4884-8465-CEEADC9667A7}"/>
              </a:ext>
            </a:extLst>
          </p:cNvPr>
          <p:cNvSpPr>
            <a:spLocks noGrp="1"/>
          </p:cNvSpPr>
          <p:nvPr/>
        </p:nvSpPr>
        <p:spPr>
          <a:xfrm>
            <a:off x="800100" y="3019425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0 missing values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3C5688-5452-4727-96BD-C60A0F3BD619}"/>
              </a:ext>
            </a:extLst>
          </p:cNvPr>
          <p:cNvSpPr>
            <a:spLocks noGrp="1"/>
          </p:cNvSpPr>
          <p:nvPr/>
        </p:nvSpPr>
        <p:spPr>
          <a:xfrm>
            <a:off x="800100" y="3267075"/>
            <a:ext cx="2724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0 missing values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D143F9-6EFD-4655-9443-B296516B0110}"/>
              </a:ext>
            </a:extLst>
          </p:cNvPr>
          <p:cNvSpPr>
            <a:spLocks noGrp="1"/>
          </p:cNvSpPr>
          <p:nvPr/>
        </p:nvSpPr>
        <p:spPr>
          <a:xfrm>
            <a:off x="4324350" y="2857500"/>
            <a:ext cx="3238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619A3D-FF5E-42EC-8617-3E084826622C}"/>
              </a:ext>
            </a:extLst>
          </p:cNvPr>
          <p:cNvSpPr>
            <a:spLocks noGrp="1"/>
          </p:cNvSpPr>
          <p:nvPr/>
        </p:nvSpPr>
        <p:spPr>
          <a:xfrm>
            <a:off x="4514850" y="3019425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10 duplicate rows removed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191EEE-6005-4BC4-B29D-77C5D03F1894}"/>
              </a:ext>
            </a:extLst>
          </p:cNvPr>
          <p:cNvSpPr>
            <a:spLocks noGrp="1"/>
          </p:cNvSpPr>
          <p:nvPr/>
        </p:nvSpPr>
        <p:spPr>
          <a:xfrm>
            <a:off x="4514850" y="3267075"/>
            <a:ext cx="2724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10 duplicate rows removed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B3E7F2-86D6-48A6-8DBA-62404239548D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3238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927712-536C-4E13-A35E-1F28C2DCA441}"/>
              </a:ext>
            </a:extLst>
          </p:cNvPr>
          <p:cNvSpPr>
            <a:spLocks noGrp="1"/>
          </p:cNvSpPr>
          <p:nvPr/>
        </p:nvSpPr>
        <p:spPr>
          <a:xfrm>
            <a:off x="800100" y="4143375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17 height values corrected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40A7C9-1105-4ED0-8FEE-11ABF5746F88}"/>
              </a:ext>
            </a:extLst>
          </p:cNvPr>
          <p:cNvSpPr>
            <a:spLocks noGrp="1"/>
          </p:cNvSpPr>
          <p:nvPr/>
        </p:nvSpPr>
        <p:spPr>
          <a:xfrm>
            <a:off x="800100" y="4391025"/>
            <a:ext cx="2724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17 height values corrected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A42858-9AAB-427F-88B8-6D2497BDB220}"/>
              </a:ext>
            </a:extLst>
          </p:cNvPr>
          <p:cNvSpPr>
            <a:spLocks noGrp="1"/>
          </p:cNvSpPr>
          <p:nvPr/>
        </p:nvSpPr>
        <p:spPr>
          <a:xfrm>
            <a:off x="4324350" y="3981450"/>
            <a:ext cx="3238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0764FB-90C3-42BB-9B47-76781EEE31E6}"/>
              </a:ext>
            </a:extLst>
          </p:cNvPr>
          <p:cNvSpPr>
            <a:spLocks noGrp="1"/>
          </p:cNvSpPr>
          <p:nvPr/>
        </p:nvSpPr>
        <p:spPr>
          <a:xfrm>
            <a:off x="4514850" y="4143375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16.76 cm median height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293756-9548-4CC9-95A7-90EC4FD4AA00}"/>
              </a:ext>
            </a:extLst>
          </p:cNvPr>
          <p:cNvSpPr>
            <a:spLocks noGrp="1"/>
          </p:cNvSpPr>
          <p:nvPr/>
        </p:nvSpPr>
        <p:spPr>
          <a:xfrm>
            <a:off x="4514850" y="4391025"/>
            <a:ext cx="2724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16.76 cm median height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CDC43E-8C28-4C42-8C11-558FA7896F5F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97CD34-6ACB-4309-80F4-E0FE81C0AF2F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2B01B0-C2C2-44CC-A488-FD0C2EBA89DD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first business risk is not model choice; it is catalog reliability.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46EE61-D33C-4089-ABAD-52F16833CF5F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5AF135-C41E-4527-8B48-F8716A9A726D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F07C18-5EBA-4B2F-97EB-65A3E63339D1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Keep data cleaning as a required step before pricing automation.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73E6179-0255-4E2C-A56D-34BDCCDE17B2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40E755-A15F-48EE-93CF-D255A6C61CD5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Data -&gt; Evidence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E150B0-CBC2-4806-975B-586595464429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29D658-4AB8-4ED2-9C51-BE66B13A0F07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Evidence -&gt; Drivers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6102D2-5D5A-4D78-8FC1-426D11BC28CA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EC7274-F321-4A6E-ABAF-327CBEEE2977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Drivers -&gt; Model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041F9E5-8AED-4046-A687-32139B1DF43C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74F321B-DDEC-4D0A-A95A-E8C8046633FE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Model -&gt; Action</a:t>
            </a:r>
          </a:p>
        </p:txBody>
      </p:sp>
    </p:spTree>
    <p:extLst>
      <p:ext uri="{BB962C8B-B14F-4D97-AF65-F5344CB8AC3E}">
        <p14:creationId xmlns:p14="http://schemas.microsoft.com/office/powerpoint/2010/main" val="464843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1A8A0212-7A48-4157-829E-4D533ABD63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7D0928-78DC-4640-88C4-3278D30CF6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6E912F52-D98C-47FE-8F10-7369FBC967F6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E43260C0-6964-4C5B-9F7A-7DEB07F6A832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MARKET BASELINE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EEA420-4AB0-486A-9B3E-087F3730D798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The market is budget-to-mid heavy, with a few premium devices stretching the price range.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8D1ECA-89B2-49D9-AE4D-6157F61CFD3F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Prices range from Rs 920 to Rs 80,999. Median price is Rs 13,999 and mean price is Rs 16,305.77.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7C01F9-D6A6-4C39-90CE-C3A4C006DB4B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BD8BF7-66AA-40C1-A557-823B3F185959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04/25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9F8182-7AE1-43F4-BC5C-70FF98E73CCF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3238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5C6E5B-B39F-4F0C-8785-34C48AAFA9B5}"/>
              </a:ext>
            </a:extLst>
          </p:cNvPr>
          <p:cNvSpPr>
            <a:spLocks noGrp="1"/>
          </p:cNvSpPr>
          <p:nvPr/>
        </p:nvSpPr>
        <p:spPr>
          <a:xfrm>
            <a:off x="800100" y="3019425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Rs 13,999 median price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90BF69-CB1B-4B6C-9149-1516A7862CF8}"/>
              </a:ext>
            </a:extLst>
          </p:cNvPr>
          <p:cNvSpPr>
            <a:spLocks noGrp="1"/>
          </p:cNvSpPr>
          <p:nvPr/>
        </p:nvSpPr>
        <p:spPr>
          <a:xfrm>
            <a:off x="800100" y="3267075"/>
            <a:ext cx="2724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Rs 13,999 median price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3B3ABA-2EBE-441E-A567-0565C56441BC}"/>
              </a:ext>
            </a:extLst>
          </p:cNvPr>
          <p:cNvSpPr>
            <a:spLocks noGrp="1"/>
          </p:cNvSpPr>
          <p:nvPr/>
        </p:nvSpPr>
        <p:spPr>
          <a:xfrm>
            <a:off x="4324350" y="2857500"/>
            <a:ext cx="3238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36312D-5CF9-4D09-8DA8-85F97E70B908}"/>
              </a:ext>
            </a:extLst>
          </p:cNvPr>
          <p:cNvSpPr>
            <a:spLocks noGrp="1"/>
          </p:cNvSpPr>
          <p:nvPr/>
        </p:nvSpPr>
        <p:spPr>
          <a:xfrm>
            <a:off x="4514850" y="3019425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Rs 16,305.77 mean price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8E3D22-A3B7-4DFF-9C16-BB7010A2D2B0}"/>
              </a:ext>
            </a:extLst>
          </p:cNvPr>
          <p:cNvSpPr>
            <a:spLocks noGrp="1"/>
          </p:cNvSpPr>
          <p:nvPr/>
        </p:nvSpPr>
        <p:spPr>
          <a:xfrm>
            <a:off x="4514850" y="3267075"/>
            <a:ext cx="2724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Rs 16,305.77 mean price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3F433F-F652-46D1-A000-1B4A7DF2EF40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3238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FA2203-353A-4661-ADAD-01C952B334DF}"/>
              </a:ext>
            </a:extLst>
          </p:cNvPr>
          <p:cNvSpPr>
            <a:spLocks noGrp="1"/>
          </p:cNvSpPr>
          <p:nvPr/>
        </p:nvSpPr>
        <p:spPr>
          <a:xfrm>
            <a:off x="800100" y="4143375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Rs 920 minimum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CE9D20-598B-43EF-9AC0-707F917E6341}"/>
              </a:ext>
            </a:extLst>
          </p:cNvPr>
          <p:cNvSpPr>
            <a:spLocks noGrp="1"/>
          </p:cNvSpPr>
          <p:nvPr/>
        </p:nvSpPr>
        <p:spPr>
          <a:xfrm>
            <a:off x="800100" y="4391025"/>
            <a:ext cx="2724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Rs 920 minimum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209DBA-8239-4DCB-A178-44360CAF3B95}"/>
              </a:ext>
            </a:extLst>
          </p:cNvPr>
          <p:cNvSpPr>
            <a:spLocks noGrp="1"/>
          </p:cNvSpPr>
          <p:nvPr/>
        </p:nvSpPr>
        <p:spPr>
          <a:xfrm>
            <a:off x="4324350" y="3981450"/>
            <a:ext cx="3238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6B51F4-8CAA-4EC9-BCB6-AF01E0E074C2}"/>
              </a:ext>
            </a:extLst>
          </p:cNvPr>
          <p:cNvSpPr>
            <a:spLocks noGrp="1"/>
          </p:cNvSpPr>
          <p:nvPr/>
        </p:nvSpPr>
        <p:spPr>
          <a:xfrm>
            <a:off x="4514850" y="4143375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Rs 80,999 maximum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7D37D1-13BC-49B8-B12C-AFB8C7C7CCDB}"/>
              </a:ext>
            </a:extLst>
          </p:cNvPr>
          <p:cNvSpPr>
            <a:spLocks noGrp="1"/>
          </p:cNvSpPr>
          <p:nvPr/>
        </p:nvSpPr>
        <p:spPr>
          <a:xfrm>
            <a:off x="4514850" y="4391025"/>
            <a:ext cx="2724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Rs 80,999 maximum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C295F0-4976-4011-8E76-1A4CC5D65381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AE8356-9E67-492A-8FF0-0DB911A0CAB6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5D2C5B-C688-4712-9369-0D47B61505B5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Most decisions should optimize the budget/mid-range cluster, not chase flagship exceptions.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BC511A-24C8-4B4E-BCFF-9DEB48D93728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75344B-A53D-4A68-8DEE-ABEDF2B2DC16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38A7B5-15CF-41D6-9FEC-E7165C5D602C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Separate budget, mid-range, and flagship pricing rules.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A14845-716D-4877-997D-725FFF1B0E4C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002108-4F9B-4172-9E2E-B3512CD60376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Data -&gt; Evidence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BB3591-9A4F-4ED2-ACD1-25E15250AC15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2EA664-6CCB-4543-B93D-F099F2C2E092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Evidence -&gt; Drivers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156B13-09AF-4288-AF64-65D330DA1272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B0D3BA-61C8-4054-80EE-76D0C04931EA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Drivers -&gt; Model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799864A-4EE8-45AB-B67E-ED137D9BD5F5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0D0B4E-66AF-46CF-8DFB-D3ADA8423F42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Model -&gt; Action</a:t>
            </a:r>
          </a:p>
        </p:txBody>
      </p:sp>
    </p:spTree>
    <p:extLst>
      <p:ext uri="{BB962C8B-B14F-4D97-AF65-F5344CB8AC3E}">
        <p14:creationId xmlns:p14="http://schemas.microsoft.com/office/powerpoint/2010/main" val="1783045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B166A41-A1E2-4DA5-AC7D-2946ED2ADC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52BBEA-276F-489B-A081-DD60864BC6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49AAF064-89DD-43FF-B381-9EAC3D7B0C77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B06EBCA6-6698-441E-BC11-4A8D53E1B0A7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MODEL MIX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B96BF7-79FF-4AAC-8F0C-97D180A54616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High-frequency models create the clearest benchmark set for price comparison.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AE44C3-24B1-4FEA-A443-3D44A26D735B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realme C55, REDMI Note 12 Pro 5G, vivo Y16, and Samsung Galaxy A14 5G each appear 9 times.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7706D4-6BC5-486B-B0DE-69D0892DA28A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B0F348-9D2C-40AC-AEA1-D9E0234F63D3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05/25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2721649"/>
            <a:ext cx="7524750" cy="290060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7845EF8-61CB-4214-B70E-EBA05B560388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D330BE-2B79-4AB3-A23A-D509CA7B0D6A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0D0F73-3E05-4A40-878F-F3F05A00EC1C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strongest comparison groups come from repeated listings, not one-off devices.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8A673F-3CEB-4D9C-8CED-5E0594741A9D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0D5802-DF76-466E-828E-5C1D5B9DD6B9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6852C7-DA50-4129-B173-736AF3AB8E5F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Benchmark pricing first on high-frequency models, then extend rules to sparse models.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3A8B03-C615-4088-8F94-BB010C478B03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EF2255-3989-4A3F-BF1E-6E2BD5FDD4FC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Top models: 9 listings each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8C5F9A-0E9C-4E05-9F4D-E19BEE0D11F2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B56239-4528-4686-8BF1-CFEE6DC4C29E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realme C55 is most frequent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B0F16F-4C73-4CFB-9828-2ADE0540E5B3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E71CF0-F442-44ED-82E4-6D6B25965933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187 unique models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E75012-04F5-44F3-887D-B94D8E6612E9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FE6AF7-6C03-4820-9CD6-D1331E273B4B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Use repeat listings as benchmarks</a:t>
            </a:r>
          </a:p>
        </p:txBody>
      </p:sp>
    </p:spTree>
    <p:extLst>
      <p:ext uri="{BB962C8B-B14F-4D97-AF65-F5344CB8AC3E}">
        <p14:creationId xmlns:p14="http://schemas.microsoft.com/office/powerpoint/2010/main" val="505111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BD70C09-04BC-4DA0-93BA-2047CCEDCB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3EFD53-7E53-4BC9-8E80-79D3FC4097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36501062-4ACE-4CB7-B3D5-080FBDC27F2B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3CCBC349-1836-4ED0-88B2-55634C06B722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COLOR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9323A7-0A72-418F-9428-69A5EE924128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Color is too fragmented to be trusted as a direct pricing driver.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E7CD7A-DFC2-42A2-88E6-962BCCDEF672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notebook shows 275 unique color labels compared with 187 unique models; Yellow appears 12 times.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9B571D-EE60-47B1-AD90-700DAE61500A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AADFEA-81F6-4726-A6E2-9503F3B057B4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06/25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2666127"/>
            <a:ext cx="7524750" cy="301164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74E48BB-170B-4B9F-9744-E742CBF0613C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55E324-CB9D-4160-B0C1-1AA14603977E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6AAED-E3AD-45DA-9CE0-88ADF41B53BD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Color labels likely mix real variety with naming inconsistency.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F2BCA0-4D5E-4709-B3FA-71BC05ECAE99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F60CB-6E18-4DEC-82E2-CDF6BA4EDDED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35E129-06A6-43B4-82C7-E90ED82F583A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Standardize colors into families before using them in business rules.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072A10-071D-412F-954C-CCCD857055E1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397054-1A23-4DC0-849B-E4B60E302174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275 unique colors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379698-D06F-47FF-8177-99B0E326E8B7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0CF9D4-9C3E-4513-B9D9-6C7913510D3D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Yellow: 12 listings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0F6A67-BD79-423E-AA5A-50A1CD06B50C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D652AB-2B2A-4ED4-B634-3CABF3488534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Color count &gt; model count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15CAEA-5F03-46B7-8467-38598BFFA392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BBDA66-80D9-4DDD-A959-85C8EDF67DBA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Standardization needed</a:t>
            </a:r>
          </a:p>
        </p:txBody>
      </p:sp>
    </p:spTree>
    <p:extLst>
      <p:ext uri="{BB962C8B-B14F-4D97-AF65-F5344CB8AC3E}">
        <p14:creationId xmlns:p14="http://schemas.microsoft.com/office/powerpoint/2010/main" val="473115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4B6E5B5-9D77-42B8-B0A4-39AD4C512F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7CAE6A-8DFC-437F-A740-3D05054A84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D18026BD-C815-4A1D-AA78-2A5A9AA82639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5A86ED3A-A5D3-4B6F-8302-95B39BC533B0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AI LENS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D80F3C-879A-4059-A98D-AF66638BE873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AI Lens is rare, so it should not lead the pricing narrative.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84BC38-23AF-411B-9C27-5993842A593C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Only 6.4% of smartphones have AI Lens, while 93.6% do not.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299694-8CD0-4F70-8D91-B71ADF1368D7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D19712-F604-4E82-A15B-6BFF6B548F56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07/25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68197" y="2457450"/>
            <a:ext cx="3293256" cy="3429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1A2F3EF-E676-4456-8CF4-6E631C38D018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B79AC0-AA6E-4DC2-BE89-F3B2603B7EE2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3AA349-4974-442F-8FA2-C42A14B9BB4A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rare feature may help marketing copy, but it cannot explain mainstream price movement.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6A08BA-E66C-4D91-8606-3913CE2A2D75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30BFED-9DAB-4228-943C-74F614C10926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7B602E-969E-4D08-A9EB-9D6D7E6D2113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Treat AI Lens as an add-on signal, not a pricing pillar.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8040C7-76C1-44BB-BEC7-C2C8DEF2A4D4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8ED8D3-0029-4AB1-9383-0E9AFF25244F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93.6% no AI Lens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21C855-CD0C-4954-A888-918A9BBBE9E0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708F4C-0BB1-457E-9BBC-5838D2308DC0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6.4% AI Lens present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819056-9895-4B50-8B08-5BB0D909A688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7D2A35-F853-41CC-B168-1FA67DE6813C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Imbalanced feature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F3DE10-FA28-46FD-A9A5-CF78C6EBE8A8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0C5099-E8C7-4BED-AB57-0A493AE739AE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Low final importance</a:t>
            </a:r>
          </a:p>
        </p:txBody>
      </p:sp>
    </p:spTree>
    <p:extLst>
      <p:ext uri="{BB962C8B-B14F-4D97-AF65-F5344CB8AC3E}">
        <p14:creationId xmlns:p14="http://schemas.microsoft.com/office/powerpoint/2010/main" val="1132320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E9C14DB-2FEB-4108-A0AE-0F2B39F5AB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A5884F-B795-4DD7-AC64-86CC59FFAD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24D9FF81-A9F1-41D3-8EB0-B59BBB0BFB2A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DB4C2A3D-F03F-4764-AA27-4B07B8BBF873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SPEC CENTER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4D607E-C80D-4762-A3C7-23F6F6AE93CD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The typical product is mid-spec, not premium.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9D3DC7-4907-4743-9D01-DAFED2721D87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Distributions cluster around 64/128 GB storage, 4/6 GB RAM, 5,000 mAh battery, and budget-to-mid price levels.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19EFA5-15A4-4FB6-B4CA-5BABD38064C9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CF0304-5C20-4356-9CC5-1FFEFA4951D3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08/25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16438" y="2457450"/>
            <a:ext cx="3996774" cy="3429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F81720-C7DD-4CF5-8962-20F18F69B3A5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266665-A892-4EB5-8053-58E73FCCC0BB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9FDA8B-CA66-4010-91CD-D160C0FE459B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market center tells us where pricing recommendations will be most useful.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76F683-E9B4-4A30-A2F3-42D085372EDE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8C17EA-F18F-4C67-A246-E313BE759E2D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883275-6A7B-452D-AB2C-90EAC9C553C2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Build recommendations around the dominant mid-spec segment first.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15A5FD-F470-4653-BE25-47D16895DBB4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4C57C9-B70F-4CDD-BC84-62184D6845CA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64/128 GB cluster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37D4DE-739F-44BD-B76A-0E03E57FD274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277694-96DA-4974-9606-10A25B9029B2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4/6 GB RAM common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F71173-44B3-4371-91C0-5763FB0F57CC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C79CD9-81C9-4684-8C4A-9EB8575B024D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5,000 mAh common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3A61AC-D2D0-4FDF-9B4E-A23462F7CF00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1A477A-E751-48D4-81BD-7DE6061CE88D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Budget-mid concentration</a:t>
            </a:r>
          </a:p>
        </p:txBody>
      </p:sp>
    </p:spTree>
    <p:extLst>
      <p:ext uri="{BB962C8B-B14F-4D97-AF65-F5344CB8AC3E}">
        <p14:creationId xmlns:p14="http://schemas.microsoft.com/office/powerpoint/2010/main" val="1232871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65CA98E-2AE6-47CE-BD19-8B30723658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6B4400-7724-47C8-A498-22D992B920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AD00E5F2-8EDB-42F8-AE0A-EF2F9DB48ABB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50676169-7569-4274-9913-8A9CD8114CEF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OUTLIER RISK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C584CC-AE5C-4682-850F-4CF0770A8D9B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Battery and memory create the biggest outlier pressure in the dataset.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E9022B-3D72-480C-9907-4AE1381992B0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IQR outliers are Memory 55, RAM 0, Battery 148, Rear Camera 39, Front Camera 13, Mobile Height 32, Price 25.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A8592D-44BD-4D4B-9714-9FC55AED960E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F21FCA-FD34-436F-882B-A6383ABEF1F4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09/25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15506" y="2457450"/>
            <a:ext cx="3998638" cy="3429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5311A2E-24ED-4206-A594-88AE13AE356A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F0F87E-6A13-4EDB-8856-8B83FB70CAA4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87D801-6E81-40CF-9299-CC6F5964E186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Outliers are not noise only; they show where product catalog rules need controls.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F4335-E247-42A2-8707-88B3C53352D6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DAEAB0-E48F-49AC-9B4C-3269327ED058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0E0987-EE37-4483-B396-B6DC6D7A3A4E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Audit battery, memory, camera, and price extremes before deployment.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9A1BBB-F4D8-42DB-876F-5EDC4B084900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D6D55A-3C56-4811-9D46-0ADE490437CB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Battery outliers: 148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ADA357-0A2E-43BE-89AB-5EB8AA690E57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D045FE-1801-40D9-8F7F-D92B8033D837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Memory outliers: 55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F03DC7-FA3E-43F6-9630-222C7E85A66E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0731A5-C1BB-476C-9A8B-C5EF7FDB35FA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RAM outliers: 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5ABD58-411D-4522-AC33-7DAA560906E3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869DF7-B408-4500-BA67-D4F34945EB14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Price outliers: 25</a:t>
            </a:r>
          </a:p>
        </p:txBody>
      </p:sp>
    </p:spTree>
    <p:extLst>
      <p:ext uri="{BB962C8B-B14F-4D97-AF65-F5344CB8AC3E}">
        <p14:creationId xmlns:p14="http://schemas.microsoft.com/office/powerpoint/2010/main" val="1346851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5F1DEFA-1AEB-472B-BF88-C103448FCD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6E8964-A0EF-4C52-B14C-94AD9B9030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2A9BB440-8D43-491A-AFCA-5C992B2889F8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6E4C8B86-263C-4E62-A66D-63DDE8A00B78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HEIGHT CLEANUP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B7CA6D-7C30-4AC4-93E1-345811A4B285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Height became realistic only after median imputation.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7D0EDB-F045-4341-AFB2-AC80F7D7F60C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After correcting 17 values, mobile height ranges from 12.70 cm to 17.65 cm; mean is 16.68 cm and median is 16.76 cm.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42882D-D27D-48D2-A1BC-F53EC005ED9F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E9538D-58A9-4FE5-AF68-3B0F83BA189D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10/25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2774970"/>
            <a:ext cx="7524750" cy="279396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0F64BE2-AA4F-466D-8BA9-FE93BF20E52F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2A2A3E-CBDF-4F9B-9BA6-186520F06DAD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4D08AC-A131-41DE-9C06-CE769CBCF59E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This is a data-quality win, but height still remains a weak pricing signal.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3550EC-7C8D-4D24-828A-6AAFE31842D7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C7BC1C-4C7A-42BF-AF2C-0938173FB993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13718F-669E-4B78-B5A2-8F3DB289265D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Use height for product description, not primary price setting.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515D1E-B932-4741-AE2D-4DBD818E3752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0C0517-CE5A-40A2-B729-CE08C403458A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17 values replaced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8ABA0C-AB4D-46AD-9B78-20265EBA1308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B05B6E-336B-44B5-A653-F943D216C114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12.70-17.65 cm range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D22D4B-F333-44EF-B67E-D46272402BB3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ACA098-37DE-4281-AA83-3DFFB7BC5695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16.68 cm mean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FFE735-CEF1-4220-8750-1C3103A19E12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0BB576-041A-44F5-AF15-D367A5E573B1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16.76 cm median</a:t>
            </a:r>
          </a:p>
        </p:txBody>
      </p:sp>
    </p:spTree>
    <p:extLst>
      <p:ext uri="{BB962C8B-B14F-4D97-AF65-F5344CB8AC3E}">
        <p14:creationId xmlns:p14="http://schemas.microsoft.com/office/powerpoint/2010/main" val="1922974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122C350-E75E-4D00-B752-856315FEA3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C42E13-B150-47FE-8138-D65DA1AF3F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C766E63D-6F64-406D-A406-81BD855791E9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063C08E0-37BD-4755-971F-67F22FEAD73B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PREMIUM ANCHOR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66E73F-EDA9-41E1-97D2-63377D621422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Flagship Apple and Samsung devices define the price ceiling, not the average market.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D7EF6B-1E9C-4F35-9EDB-38ACF1713728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APPLE iPhone 14 Plus averages Rs 80,999; SAMSUNG Galaxy S23 5G averages Rs 79,999.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A10235-61F3-4147-8FE7-FE6EC09A4A27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90920-0E72-48E5-BCD9-4DA27D8B6B95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11/25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2536135"/>
            <a:ext cx="7524750" cy="327163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E53FFA6-9436-40A1-8351-E70997EF7828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D9CFC9-26E0-4F35-BE04-AF1E367AB823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B6641C-797C-4C96-964E-F5ED51B5D33E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Premium anchors are useful for framing, but they can distort budget pricing if mixed with all models.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02EAB7-189F-4B4E-B45A-0C38D3BB8CF8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FA96AE-F948-4045-B5C0-6F5D277C6726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442994-FB7B-4ACB-8783-8D5C45BA639E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Keep flagship pricing rules separate from mass-market phones.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03D69C-5376-4288-BC40-BA4BA54AD5BF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0F78A3-B0E4-48CD-9738-79FA743FA4C1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Apple iPhone 14 Plus: Rs 80,999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D66FE5-EFA9-423C-97BC-63775289DE8A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2CEF4E-40E0-4AA7-B863-4D231346993F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Samsung S23 5G: Rs 79,999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60A3C8-CF0C-4915-A3C1-8E766795E878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26A9E8-29E8-40DE-A55B-D3A94DCE9F61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Premium anchor logic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AE8299-D2DF-4C90-9B53-028136945B62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4D8E2C-7354-46EA-8F08-0951B7ABB087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Separate flagship tier</a:t>
            </a:r>
          </a:p>
        </p:txBody>
      </p:sp>
    </p:spTree>
    <p:extLst>
      <p:ext uri="{BB962C8B-B14F-4D97-AF65-F5344CB8AC3E}">
        <p14:creationId xmlns:p14="http://schemas.microsoft.com/office/powerpoint/2010/main" val="756895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70653AE-CD92-4E4A-9DFA-CFABEE8C11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0E95AE-F34D-4034-8E20-43487BCA7E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915B02C4-4B35-4478-B503-123A4ACA25C5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C825C63F-58EB-4C24-BB25-7B5D158C425A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STORAGE LEVER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6F34F0-FF8B-440F-A745-C4C601631D18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Storage works as a practical upsell lever.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D6F8C5-E00A-4CA9-A409-A1CAB5876A5F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Memory ranges from 16 GB to 256 GB across 5 variants, and higher memory generally commands higher prices.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CBDA6B-36DC-4896-A9EA-042BFD582B54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3E80E4-11DF-4F62-8AE2-3F61D60C1026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12/25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2775849"/>
            <a:ext cx="7524750" cy="279220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A8E11E1-7113-4C9A-9B92-4FAE15263F5F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245DD0-9B21-4689-AC59-613809BE7123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2710B8-2905-4646-B3F1-2CA8EC036E41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Storage is easy for customers to understand and easy for businesses to price.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FC9128-4D23-4E65-BA8C-B0A1D811EC6F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220BC9-9134-491F-8087-3C90D8F49796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BD7905-D53F-46C7-BCBF-08ABF221CBF1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Create clear 64/128/256 GB price ladders.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D712C4-2976-4B7C-BDA5-C9EAF0AA001E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BA7E0B-5341-4C79-ACE1-FE17A8D7F61B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16-256 GB range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BA7083-785E-4A7A-874A-B7FEED781D08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86045F-E073-4B5C-8429-66CD23EC3DF0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5 memory variants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4934F6-6AD3-4EDF-BE9B-71037307B60D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612E6B-78A0-4FE9-9CEA-F31BDA9E6C10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128 GB median storage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D61714-2FF7-4FFB-BCB6-AFC3D6FF3E98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F23091-5CAE-48B6-B622-392A76E78F9D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Storage supports upsell</a:t>
            </a:r>
          </a:p>
        </p:txBody>
      </p:sp>
    </p:spTree>
    <p:extLst>
      <p:ext uri="{BB962C8B-B14F-4D97-AF65-F5344CB8AC3E}">
        <p14:creationId xmlns:p14="http://schemas.microsoft.com/office/powerpoint/2010/main" val="2031467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618BBB7-22E3-47D6-9E36-AEC64E1FD3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301E96-4171-40CF-94B3-C6BBF5E9F0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BBB1745A-B56A-4F0A-9517-30C473BB81DC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B734C5AF-95E1-4D81-A8AE-F84FD3968AFC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COLOR PREMIUM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8EA5CD-F342-48CC-984F-5A910E50A9C9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Expensive color labels should be treated as model effects, not color magic.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402A4C-6952-4374-AE71-9EAB88C9F37F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chart ranks top colors by average price across 275 unique color labels.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F8EA86-E55B-464C-8CC0-561E685ADDB9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5C71DA-399A-4CE8-B045-1E1F9EDFE5DF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13/25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2533037"/>
            <a:ext cx="7524750" cy="327782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DC3FBA0-DC0A-4664-A3E2-22745505A859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7190C9-2FF2-460E-926F-5D3D2F73617C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15D0C8-AB81-4E41-B6E4-63AE51D0714F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premium color label may simply belong to a premium device.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D3DD0F-0BC1-47C7-BA78-E118735DC291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5DA96A-7AB3-4DB8-88F8-58DC15833D5C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1F31AC-B7EB-42AB-90A7-344FDF1A6C41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Do not price up colors until model and spec effects are controlled.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7AB94F-BF1A-4675-9FA7-3568BA07F99E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B68B59-0435-4016-811A-84F9770475C2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Top 10 color labels ranked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BD2C8D-2223-4E93-88BA-10FC5FA162F9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BFEA6-26DF-4553-8705-A134237EE49D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275 color labels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2B669-F7AA-4842-9F72-D7FF2926BD4E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F9C67F-3C3E-4488-A291-7E87843FAF41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Confounding risk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51A593-6D55-447B-BD4F-F8A0391D133C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FD4C09-5655-4C7B-B22E-5EAC65839556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Group before modeling</a:t>
            </a:r>
          </a:p>
        </p:txBody>
      </p:sp>
    </p:spTree>
    <p:extLst>
      <p:ext uri="{BB962C8B-B14F-4D97-AF65-F5344CB8AC3E}">
        <p14:creationId xmlns:p14="http://schemas.microsoft.com/office/powerpoint/2010/main" val="1966732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A3E08D7-D433-4F0C-A602-CCF76F638B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7013CA-6A70-47BF-936A-F7D5E43B32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EBEBE6E9-2752-4409-AB97-5765E244CBF7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69627503-2F51-472C-984A-25FDEE578E75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RAM LADDER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8ECE89-DC54-4139-8EBB-7A394C58BCC1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RAM supports the performance-tier story with a clear positive price relationship.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BE4430-910A-48F6-B9BE-FDE0D233C18D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RAM has a notebook correlation with Price of 0.529474.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63EA5C-24CD-45EE-B938-FC960AABB34E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DBC55A-2F39-4115-BF57-754B0CD52126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14/25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2774970"/>
            <a:ext cx="7524750" cy="279396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B094915-A962-4AA6-831D-1CEBB2636E47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6DD0C7-8741-46B4-ADEF-6BDE89026256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47C679-0B9B-428E-BB06-8D97BD00E5F3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RAM helps explain why performance variants command more price.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915AD0-411D-4663-82E9-63C06B2239B6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4489C8-C81D-4F8B-9EF3-763BA1C8D002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AC69A5-CC81-40DD-A0BF-F5CCB25C79B9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Pair RAM with memory and camera in premium bundles.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83AABA-3C8C-4214-B5CE-3DD82F8931E0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3F0CEA-485A-4207-A2EE-EB2590A27D4C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Correlation with Price: 0.529474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7FF63C-DB6E-4527-B90E-CAA60341AC95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A464E9-4D06-451A-9374-D4030C783EDB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RAM mean: 5.40 GB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067C88-2EDC-4C72-9018-ADB29AB7299A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1BDECF-25BD-4553-AC2B-4F39F3CBCB0B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Max RAM: 8 GB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36A976-9590-4AC8-8865-078F1D17DA27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E65274-D51C-460D-B8A0-0BD1A9732634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Tier by 6GB/8GB</a:t>
            </a:r>
          </a:p>
        </p:txBody>
      </p:sp>
    </p:spTree>
    <p:extLst>
      <p:ext uri="{BB962C8B-B14F-4D97-AF65-F5344CB8AC3E}">
        <p14:creationId xmlns:p14="http://schemas.microsoft.com/office/powerpoint/2010/main" val="473015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7BD74D6-6697-4B92-ACAD-AFC9491CB8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AD19CD-FDA9-45EE-BC50-30E6F09639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CB9F2FF0-1CB1-46C7-8D26-8ECA432E08D6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671C39B4-483D-4345-8AAE-7ED4D17508F8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BATTERY VALUE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80EEF6-AFF8-4F16-BC1B-600D5A79F32A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Battery is a value message, not a strong price driver.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F17DEC-D6C6-4539-BA71-1B49F2266974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Battery ranges from 800 mAh to 7,000 mAh, but correlation with Price is -0.046250.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7B97E1-E00E-4B6C-BDC7-85805C7E301D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F4B540-5096-405A-84C9-3D87E72D39BF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15/25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2774970"/>
            <a:ext cx="7524750" cy="279396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290FE8-1471-48BD-B171-9C5EC52F10C4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5A6C20-17AE-4D11-88B7-F5AF6916EC05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66EAA8-66E0-490E-B7A6-270DDEFD1E1B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Customers care about battery, but the model does not show it as a premium price lever.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B33FF3-FF42-409F-BCBC-19A0436B1859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2ACDDD-145E-44DF-A559-D64EFA979680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37100A-3499-4A4F-9F6D-A2364EF79489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Use battery to defend value propositions, not to justify large premiums.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D2EB33-E3C0-4315-A78F-DA5E8A826A70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E5E5B0-58EB-4411-9827-214EE674815D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800-7,000 mAh range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137747-003B-4867-BBCC-599975C0D345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BF2775-9AB4-4D37-8BD8-37CB8BF660A6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Mean: 4,873.88 mAh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F7AF0C-23B8-4C69-B339-6E92EDF0B59C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3565FB-D1CA-4100-88B6-DA625CF9F1B6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Correlation: -0.046250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BBA94C-5136-49A8-96FC-BE1D957F722B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0CE158-D4D9-4694-BF59-12AE0F4D31A6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Value messaging</a:t>
            </a:r>
          </a:p>
        </p:txBody>
      </p:sp>
    </p:spTree>
    <p:extLst>
      <p:ext uri="{BB962C8B-B14F-4D97-AF65-F5344CB8AC3E}">
        <p14:creationId xmlns:p14="http://schemas.microsoft.com/office/powerpoint/2010/main" val="1080235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939B5CA-A4F3-4D72-9D52-527F5BC88B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14695A-ABFF-43F8-910E-D5ADE6E21A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3E7417EB-AFB8-49D7-9374-D73F0163BCAC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21D5BF64-35BB-4EB7-91D8-9472755A9B92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CAMERA POWER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CFC873-58E1-4453-A64D-7A0FD1B219AF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Camera capability is the strongest hardware story after brand.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67DE89-EDCE-4874-9B9D-7A9C50BD6DE2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model later assigns Total_Camera_MP a 31.50% feature contribution.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CCFF51-A92C-4E5A-904A-0B1F5AFEDC6F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DBA85A-4B7C-44B2-8037-2E3D5C8356A5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16/25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2774970"/>
            <a:ext cx="7524750" cy="279396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2BFC386-97F1-4F0A-B8A1-CD2B2DFF195E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62BDD1-D327-4C80-AEAC-8A12AD83B5D3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233783-6411-4848-AABF-2D8CAEC3937A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Camera specs are both visible to customers and powerful in the model.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3FB0BE-0E29-4029-B07F-34C9802316F9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F71858-AF9D-4134-94B9-C3B1B5BB8937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1C5CAD-D249-4A4D-AD0D-5C7F206812E9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Make camera capability a core premium bundle signal.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8E9901-A588-4501-9989-0879DBB99003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FBA262-E97E-43E2-BE92-4E966A9C2F6B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Total_Camera_MP: 31.50%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1E0BA2-6842-4ABF-A1EE-2DA9A6EF1EA9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E5FCBB-64B9-49EF-8B97-C086DFCA9ABF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Rear camera correlation: 0.406784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472595-7887-4961-9099-7AFA335E601D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CB6755-09A0-4E22-94C9-0B0F86D5522B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Front camera correlation: 0.529013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D5F2C4-290B-4B60-A0DF-CB984058155B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213045-BCB3-4582-88D6-8B250CEF9365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Validate 0MP values</a:t>
            </a:r>
          </a:p>
        </p:txBody>
      </p:sp>
    </p:spTree>
    <p:extLst>
      <p:ext uri="{BB962C8B-B14F-4D97-AF65-F5344CB8AC3E}">
        <p14:creationId xmlns:p14="http://schemas.microsoft.com/office/powerpoint/2010/main" val="415551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AB78340-8BB8-4F8B-9A73-4FF9354477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41B82C-5849-4657-8DD5-AF933418B2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839EAC05-57C3-46C0-87E0-95DD4284A306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2A3B5247-90DC-482A-9ABD-3A1B7E24B8AA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AI LENS LIMIT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49DE1F-55FF-4E87-AB9F-B2DEC1BB7869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AI Lens almost disappears once stronger pricing drivers are included.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8D2757-BB35-4C2D-8A40-8A796DA164F4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AI Lens contributes only 0.11% in feature importance.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B97812-E3B2-4EB9-BFA1-D457B67CCB30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690644-0F56-4C84-922B-AD99950D394F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17/25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2573821"/>
            <a:ext cx="7524750" cy="319625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B50B105-DEEE-4270-BAD6-DF753B413228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8A8489-9319-4AE2-A2FE-0F3CBE521DB1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7681E8-1B4F-4BDA-AED2-8023FB6935E8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feature sounds modern, but the evidence says it is not a major price driver here.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F14191-6BF7-49B3-BD3A-48697879514F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BC72BA-361E-4A5C-AAAB-9F947F60D992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8D09C6-20C1-46E9-A420-28B9E1F387BA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Market AI Lens as support copy only.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0135AF-0083-4767-AD33-C1FCCD9F1B36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B65369-BD6B-4F21-860A-F3118AB81B5C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AI Lens importance: 0.11%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BC425E-446B-4897-8A65-C43188B9036F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DAF9B5-4569-4636-8EEB-234A898A50B4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Presence: 6.4%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467019-8788-43DA-9FB2-F66751DA2E76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102E61-9B92-45C0-B250-26D7615DF338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Weak price signal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AF28AB-C86C-4409-9137-2D6A3EFB7B30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7BC993-1D46-445C-931F-B018B90914E2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Do not over-price</a:t>
            </a:r>
          </a:p>
        </p:txBody>
      </p:sp>
    </p:spTree>
    <p:extLst>
      <p:ext uri="{BB962C8B-B14F-4D97-AF65-F5344CB8AC3E}">
        <p14:creationId xmlns:p14="http://schemas.microsoft.com/office/powerpoint/2010/main" val="1028638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1046086-4AB7-4EB9-9DC1-ACFBC1FFF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EB3D36-6C26-4C02-A20E-60C96E418A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F7D4EE85-3C28-43C0-AA69-5144BBD27662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CFFD9659-FF1D-46CE-B34E-8386DE4775DB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FORM FACTOR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BF19F5-019C-4EB6-BCDB-DB47879FE350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Mobile height is descriptive, not strategic for pricing.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7B18D3-655A-48DE-9EE9-575940BF6548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Mobile Height correlation with Price is -0.043954 after cleaning.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996882-B53E-47D2-9E02-081B41A6CEDF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A9D76A-8F69-4612-9F4E-ECA77F435E9B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18/25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2775849"/>
            <a:ext cx="7524750" cy="279220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C8FAD2-07BD-4429-950A-68E2D87E5286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B2AB3-2C40-49C7-B8AE-39DC67E94BAD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B19425-B2A7-463B-9ED1-0E4EC016C103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cleaned field is useful for catalog quality but weak for commercial decisions.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911978-B2D4-4CEC-9D49-418CDDCDC8C2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17B61-836C-4418-AB61-6CD6EA8BC54E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D64688-F941-4B27-AF75-AE4019A38501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Keep height as metadata and rely on stronger signals for pricing.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ED7177-50B8-4D2F-A13B-E4D9E60363E6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668514-1F7A-48C3-9354-053D5668E4F3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Correlation: -0.043954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6C3179-78FA-4C64-9884-0DF9F2F45036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2E0A87-1D9F-4065-B544-8EB007B1EF2A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Cleaned range: 12.70-17.65 cm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044300-3917-49E4-9C09-925A8AFB754D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BF0006-9169-49CB-ACDC-B68CF3BAF41D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Mean: 16.68 cm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30D8-0E9E-4E1B-8E01-FC8D2DF00FDB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26FFCE-B836-4BE7-B731-9C7F6DFB5344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Metadata role</a:t>
            </a:r>
          </a:p>
        </p:txBody>
      </p:sp>
    </p:spTree>
    <p:extLst>
      <p:ext uri="{BB962C8B-B14F-4D97-AF65-F5344CB8AC3E}">
        <p14:creationId xmlns:p14="http://schemas.microsoft.com/office/powerpoint/2010/main" val="12659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A345ACF-B4C0-4BC4-8F35-AA95ADA975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602D98-8B17-443F-B4DE-F1E4F6CE52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B238CD2B-AB00-4F59-AE35-69858C0E6651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CB2524EC-72F8-4F08-BA80-7D08A9839FBF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PROCESSOR SIGNAL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0FB2DC-1AB9-46B2-8545-A913597F7B31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Processor variety needs simplification before it can guide business decisions.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45CA3-AA94-49AA-B293-A3E11DDE1224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dataset has 123 unique processors; Processor_category contributes 1.93% importance.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94EBF5-A762-4584-9AF4-DDDCFD50C37E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443BDE-6B4D-430F-B560-31810A5AB397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19/25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2720838"/>
            <a:ext cx="7524750" cy="290222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E2F09B8-5383-428D-B864-F4669841D1D3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8B9D39-F78C-4704-9505-2A51D81790DF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122F4F-768B-4EEB-B0F9-C4D78781C95B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Raw processor names are too fragmented for simple pricing rules.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5CB6C9-943A-448B-989B-7E467E23F05F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8F9404-90D5-4DB4-A023-0487C6ACCAC0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B4C575-AB8B-4E7D-8C96-C16F0CA2B717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Use processor categories for tier labels, not as a dominant price driver.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FFA840-9236-452D-8666-2E050D428F5D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AAFE12-3CDF-4F4F-9D10-61E50B19B4DC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123 unique processors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C90F82-3E38-4B65-AFD3-722C9E99F5B6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AD023C-ED82-4A67-BE4C-07FF5DD7A4B0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Mediatek: 280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647AAA-BBE8-4D0A-BBF0-FEAA35CC37A4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BF2627-4B99-471E-9B41-00133123316A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Qualcomm: 129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3F80A5-FE73-4CB3-A2B4-B89B0159DFF0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908A91-D3EF-4384-913F-DD6A487A57F6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Importance: 1.93%</a:t>
            </a:r>
          </a:p>
        </p:txBody>
      </p:sp>
    </p:spTree>
    <p:extLst>
      <p:ext uri="{BB962C8B-B14F-4D97-AF65-F5344CB8AC3E}">
        <p14:creationId xmlns:p14="http://schemas.microsoft.com/office/powerpoint/2010/main" val="1577519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2BFC992-2F5C-4C3D-A353-E4635C7404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5908B2-57C4-494E-861F-332783402A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A0903F14-16BF-45D7-A816-27ED705B50FD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028C4112-9BC9-4DD3-B043-E0B53235FABF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NONLINEARITY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5C126E-0014-4BDD-9ABC-AC3392F60C00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Price behavior is too nonlinear for one-factor rules.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6A537E-A8C9-47D9-AF05-F2DFB460F8BD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pairplot shows relationships across Memory, RAM, Battery, AI Lens, Mobile Height, cameras, and Price.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BF2B97-E444-482C-9E74-058E0A4CE652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5CB5E3-B8E6-42D6-8952-1B34D5D03FA1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20/25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58752" y="2457450"/>
            <a:ext cx="3312146" cy="3429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DB7318F-DFAB-4F1F-BAC6-1FA274C247EB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699E7D-D73F-46F5-BDA7-3332E6D112D5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00FDA9-7706-453A-BD4A-397ECB61C455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simple rule like higher battery equals higher price would miss the real interactions.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602A21-7075-4097-B58E-D78A6376D978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EC7C00-94DE-4798-B634-F517D597FA65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2DEFC1-21E2-407C-84E3-867F95294DF3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Use tree-based models and explain them with feature importance.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73F2FE-AF9F-400D-AB0D-4AEF31C7DCED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EABB47-E3E6-4FC1-8C81-ED70C7F1F1A2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Multiple feature interactions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F1D5D0-5F2D-4808-88A2-94E2C1246F12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A41C81-D764-4752-A840-2EF64747719C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Pairplot supports modeling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440787-69EC-4745-96CA-DB719D7512E3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762B21-1335-4C2C-A153-161AD65FEAD8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Avoid single-variable rules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C86101-07E7-455A-A3DA-C429868A6614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C49E52-66EF-4C62-AD52-A162A3D65CFE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Use tree-based methods</a:t>
            </a:r>
          </a:p>
        </p:txBody>
      </p:sp>
    </p:spTree>
    <p:extLst>
      <p:ext uri="{BB962C8B-B14F-4D97-AF65-F5344CB8AC3E}">
        <p14:creationId xmlns:p14="http://schemas.microsoft.com/office/powerpoint/2010/main" val="316430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516B02F-F5C2-432E-A0B1-206A0CED42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81E6BA-1904-46DE-A892-085063E556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1C2EA581-21A4-4D86-916E-2589E71521E6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36903FB7-5EB1-4704-9967-22B404A819BE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CORRELATION PROOF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BC0859-B618-4821-878B-48A545A85FAE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Memory, RAM, and cameras are the most explainable numeric drivers.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B16047-2C57-442A-9D47-C2630ECE1A33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Correlation with Price: Memory 0.563535, RAM 0.529474, Front Camera 0.529013, Rear Camera 0.406784.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779BD1-E23B-4813-895D-B0337FC9E8BC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C68899-8CF0-49E9-87B4-6E1AA8D418E4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21/25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12638" y="2457450"/>
            <a:ext cx="4004375" cy="3429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D148CD9-22E7-41DB-B356-F546C0F28615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E93C65-D185-4DB9-B503-C7983C32F00D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EA1964-DE0E-40AF-BA87-208A4481CFFA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These are the variables stakeholders can understand and act 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9E0152-35C7-4796-8906-00351BAFC6C7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23F5B3-4772-44BC-9E8A-CB7D91D201CC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AFB565-C988-4EB4-B037-002D77A287AC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Use them as the explanation layer for price recommendations.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A6DC1D-E5C4-4674-830F-AA4AE1D138E3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F594CA-6A00-466C-9A89-FBEED42FAD4A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Memory: 0.563535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81D7FA-48DD-4F4B-8060-E40F9AFC5E48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E91E34-FB25-4B80-8C75-B5B6CBCC2D9F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RAM: 0.529474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123748-7C43-4BF4-8029-82C1EAC71EC3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5D3280-A6D3-46F9-9C0E-AB8A55526905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Front Camera: 0.529013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6ECB1E-7EBF-427F-82BF-9F716D01C1C7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721423-15AF-448E-B49D-71E518AE3F61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Rear Camera: 0.406784</a:t>
            </a:r>
          </a:p>
        </p:txBody>
      </p:sp>
    </p:spTree>
    <p:extLst>
      <p:ext uri="{BB962C8B-B14F-4D97-AF65-F5344CB8AC3E}">
        <p14:creationId xmlns:p14="http://schemas.microsoft.com/office/powerpoint/2010/main" val="1127185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803B416-14D0-4893-A325-A0BF696D22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93A95E-F2DF-4FD6-AE6C-D1B23E6E4A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0C83FB8B-3921-49A3-9747-2CF4058C707C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08617261-2F83-45E3-BBEA-60080E37C164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FEATURE BRIDGE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F52BE8-F7FA-4E1B-86AB-170B96F287A6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Feature engineering turns messy product attributes into business-ready signals.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97899C-9F48-44ED-B5BD-BE6D6A710FD5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notebook creates Total_Camera_MP, Brand, Colour_Category, and Processor_category.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76E10E-082F-48EC-82E4-542F230BDE84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17E0DD-3A9A-44D5-A74C-F6E55DFA7226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22/25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63722" y="2457450"/>
            <a:ext cx="2502205" cy="3429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7CB2564-CB14-4B3C-95F8-1F9A32B0C8DC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2563EB-6145-4A88-B8E5-C19F8336185E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E58A52-9855-482D-89A7-CBBD726E9E89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engineered variables connect raw catalog data to commercial decisioning.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6D8430-CD3B-4911-990E-E598E76A2C8F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C07C65-4D38-4E5C-AF03-9624FF762522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2DD4C2-EA6D-4248-B3DC-151ED534644B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Keep engineered fields in the pricing pipeline.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886E69-9CAD-4CC7-8103-4FF9F5CC35D8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E1A0A8-7E28-48F6-A220-363C50776379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Brand: realme 97, Redmi 74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BC45F6-BDB9-4961-BF15-A0013B7C7C1B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904253-BCA8-4799-929A-77D871A9B160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Infinix 65, vivo 60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7E7FEA-690C-4D00-A10A-21485AF66142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D9A025-4A2A-409B-B755-EEBDC950AA18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Processor: Mediatek 280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C2560A-8946-407E-B742-5E9339E18229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76FCF6-1A6A-4B25-8145-9E928964C7AE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Qualcomm 129</a:t>
            </a:r>
          </a:p>
        </p:txBody>
      </p:sp>
    </p:spTree>
    <p:extLst>
      <p:ext uri="{BB962C8B-B14F-4D97-AF65-F5344CB8AC3E}">
        <p14:creationId xmlns:p14="http://schemas.microsoft.com/office/powerpoint/2010/main" val="1090799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E4D5A59-B86B-42CD-A29F-AF04F5CA56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6244DD-6837-48CC-B821-CD31EAD261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5F5462ED-EB0C-459E-A6FD-3CC0CD70C913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F4B7D7B0-4820-403A-9971-AD1901AE904A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MODELING READINESS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C8EAFD-46D2-4DF8-91C1-8F411C29E187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The model is trained on a clean encoded feature set, not raw text columns.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208B33-FBF8-4CC3-A0B6-1B94BDCB17BC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transformed dataset contains 531 records and 10 features; 9 feature columns are scaled.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D60C62-3884-4F0F-AF36-15DF81396C29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98FE47-68DE-4E84-A42E-11FD62DA89AB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23/25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63309" y="2457450"/>
            <a:ext cx="5703031" cy="3429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124B9CD-8E68-4EEB-9B91-B6B18FC79DE5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1BC3C5-FDF0-4823-B97E-BFF0FFFDAF4D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8C7F64-3E15-4CC6-9011-4D80AF49B3EC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Encoding and scaling make the model repeatable and auditable.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EF52AF-889D-4119-82FD-AC8B81B725B7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AD0766-00D2-4574-8766-1F9EA6F0359B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13BAE2-6F44-42F6-8B3C-29CB0F9FBDAF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Document transformations so future predictions are reproducible.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A0A445-11B0-4940-8A87-5741AFAEA645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8E8576-5063-4B05-9B6F-33ECCDCAA459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531 records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45CF19-6B57-4845-9681-C4A42290A12E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C5A2CA-20EF-4FD3-87C1-450A83B4A258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10 transformed features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999FBD-DB2B-42A4-8EA5-B997256ABF28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152C4E-458B-48E7-B3C2-7E25490F0BA4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9 scaled feature columns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1EC48F-83C0-4DCB-B75E-17804EF09667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2E35D3-AE1C-403C-B0A9-ECA43CA54818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Label encoding applied</a:t>
            </a:r>
          </a:p>
        </p:txBody>
      </p:sp>
    </p:spTree>
    <p:extLst>
      <p:ext uri="{BB962C8B-B14F-4D97-AF65-F5344CB8AC3E}">
        <p14:creationId xmlns:p14="http://schemas.microsoft.com/office/powerpoint/2010/main" val="633806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FBAA276-B385-4C19-8782-E91FD18102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302541-077A-44D1-A268-8CCBF6C262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3639EA89-9A35-4E3F-97D6-8EF82B4FED00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E1C5303F-A448-49B5-8066-595AC9D25263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MODEL RESULT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79119E-9712-4E26-B807-05857851E302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Regularized XGBoost is useful, but the remaining error means human review still matters.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CC3C04-BC4B-4C3F-9A85-71644F0B3B93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Strictly regularized XGBoost: MAE Rs 2,304.50, RMSE Rs 6,366.31, R2 0.6156; train/test gap 0.3717.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A6E42A-C2BE-41F9-893B-241E22E83129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7031C1-0730-4EC3-BE78-E3C49708AD89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24/25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3158342"/>
            <a:ext cx="7524750" cy="202721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ECAC4FE-848E-447D-A145-5ADA0F187325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85170D-50B9-48C9-9F28-6B327E457B83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4477B0-3ED8-46AA-8A0D-C9C26943C80C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model is good enough for guidance, not perfect automation.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BBD81C-AF49-44BC-9C4E-07AEEEBD2B14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E52D0-EFD3-48F3-9A00-9FC189781F4A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44A2AC-7736-4684-B507-37FD48524686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Use predictions as a recommendation layer with review thresholds.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BCA38D-FE5F-489F-924A-C258657938A3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8A5F52-F551-4A75-8A0D-6AFEF104C10B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MAE: Rs 2,304.50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BD210E-2FA8-4C64-B8A7-A7E3926EFD42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7E5ACC-8835-49F6-829C-218B089D1CA3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RMSE: Rs 6,366.31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FB4CA0-7BC8-4C90-9A09-8598BA56B81C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89BD3D-1E54-410A-9C59-E99DAA5B38B3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R2: 0.6156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53CAA6-CEEE-4B0F-9D09-5E65261265EF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5EAC33-01B2-4755-B9B3-E955814ECA9D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83.18% within +-20% error</a:t>
            </a:r>
          </a:p>
        </p:txBody>
      </p:sp>
    </p:spTree>
    <p:extLst>
      <p:ext uri="{BB962C8B-B14F-4D97-AF65-F5344CB8AC3E}">
        <p14:creationId xmlns:p14="http://schemas.microsoft.com/office/powerpoint/2010/main" val="1084909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801E423-6F22-40E3-9651-BCE2ADE226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5F19AC-8854-4771-9CD1-846C9BA3B2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87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7B1EABD3-A2B0-4EFD-BE12-88B169689454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" cy="38100"/>
          </a:xfrm>
          <a:prstGeom prst="rect">
            <a:avLst/>
          </a:prstGeom>
          <a:solidFill>
            <a:srgbClr val="C57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3E08B2D4-696F-4AD8-89A1-262BF576584A}"/>
              </a:ext>
            </a:extLst>
          </p:cNvPr>
          <p:cNvSpPr>
            <a:spLocks noGrp="1"/>
          </p:cNvSpPr>
          <p:nvPr/>
        </p:nvSpPr>
        <p:spPr>
          <a:xfrm>
            <a:off x="895350" y="276225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87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716F"/>
                </a:solidFill>
                <a:latin typeface="Aptos"/>
                <a:ea typeface="Aptos"/>
                <a:cs typeface="Aptos"/>
              </a:rPr>
              <a:t>BUSINESS ACTION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030218-29CE-4AF6-8EEB-3392A72B9549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C21"/>
                </a:solidFill>
                <a:latin typeface="Aptos Display"/>
                <a:ea typeface="Aptos Display"/>
                <a:cs typeface="Aptos Display"/>
              </a:rPr>
              <a:t>The pricing playbook should start with brand and camera, then refine by memory and RAM.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10186C-3902-480A-A2DC-8409A1FCDB82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Feature importance: Brand 36.36%, Total_Camera_MP 31.50%, Memory 11.71%, RAM 6.77%, Battery 6.15%, Mobile Height 4.68%.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688D66-0433-466B-A2A5-E841FA15E170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Source: project4.ipynb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A0E8E0-9325-4C01-8B69-E10D7BA21573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2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7970"/>
                </a:solidFill>
                <a:latin typeface="Aptos"/>
                <a:ea typeface="Aptos"/>
                <a:cs typeface="Aptos"/>
              </a:rPr>
              <a:t>25/25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98173" y="2457450"/>
            <a:ext cx="6033304" cy="3429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DC4F980-8C02-46E5-86CF-024E0CEDA86D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3295650" cy="1219200"/>
          </a:xfrm>
          <a:prstGeom prst="rect">
            <a:avLst/>
          </a:prstGeom>
          <a:solidFill>
            <a:srgbClr val="101E24"/>
          </a:solidFill>
          <a:ln w="9525">
            <a:solidFill>
              <a:srgbClr val="101E2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CFEC32-B6BE-4FB1-9FAE-9007A9DF36FA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D8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D8D5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24ED9D-7917-4F5F-86A8-F45555A4A4F0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838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Together, brand and camera explain nearly 68% of model importance.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3A84AB-5FEB-422C-B157-D241F5204355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32956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D7D3D0-B2E0-4BAB-A721-78B7FE6120A5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57B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B2A"/>
                </a:solidFill>
                <a:latin typeface="Aptos"/>
                <a:ea typeface="Aptos"/>
                <a:cs typeface="Aptos"/>
              </a:rPr>
              <a:t>BUSINESS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D25F7C-9E61-46A9-AFB5-E7FB7F5D8731}"/>
              </a:ext>
            </a:extLst>
          </p:cNvPr>
          <p:cNvSpPr>
            <a:spLocks noGrp="1"/>
          </p:cNvSpPr>
          <p:nvPr/>
        </p:nvSpPr>
        <p:spPr>
          <a:xfrm>
            <a:off x="8515350" y="4114800"/>
            <a:ext cx="2838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Deploy tiered price bands, fix catalog fields, and add market demand data next.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FD0D62-6665-4162-83F6-2647CDAE6175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6A9F3B-0DF2-4516-89CE-23A2CBAB32D8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Brand: 36.36%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2BB7A5-255B-4498-9528-9179A7BDD1F9}"/>
              </a:ext>
            </a:extLst>
          </p:cNvPr>
          <p:cNvSpPr>
            <a:spLocks noGrp="1"/>
          </p:cNvSpPr>
          <p:nvPr/>
        </p:nvSpPr>
        <p:spPr>
          <a:xfrm>
            <a:off x="9991725" y="49530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09B949-D10C-4FA3-B6AC-F716DB28E076}"/>
              </a:ext>
            </a:extLst>
          </p:cNvPr>
          <p:cNvSpPr>
            <a:spLocks noGrp="1"/>
          </p:cNvSpPr>
          <p:nvPr/>
        </p:nvSpPr>
        <p:spPr>
          <a:xfrm>
            <a:off x="10106025" y="5067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1C21"/>
                </a:solidFill>
                <a:latin typeface="Aptos"/>
                <a:ea typeface="Aptos"/>
                <a:cs typeface="Aptos"/>
              </a:rPr>
              <a:t>Total_Camera_MP: 31.50%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AB32A9-D744-4E16-8674-DC81A17C0BCC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7D189D-60F5-455B-8FA0-5E9866242938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Memory: 11.71%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1E039E-A6E9-4F41-A64D-C0B4651BEEE4}"/>
              </a:ext>
            </a:extLst>
          </p:cNvPr>
          <p:cNvSpPr>
            <a:spLocks noGrp="1"/>
          </p:cNvSpPr>
          <p:nvPr/>
        </p:nvSpPr>
        <p:spPr>
          <a:xfrm>
            <a:off x="9991725" y="5638800"/>
            <a:ext cx="1562100" cy="495300"/>
          </a:xfrm>
          <a:prstGeom prst="rect">
            <a:avLst/>
          </a:prstGeom>
          <a:solidFill>
            <a:srgbClr val="EFE5D6"/>
          </a:solidFill>
          <a:ln w="9525">
            <a:solidFill>
              <a:srgbClr val="D4C7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5A37BE-6EBD-4BCC-B9FB-06C137FA2CCC}"/>
              </a:ext>
            </a:extLst>
          </p:cNvPr>
          <p:cNvSpPr>
            <a:spLocks noGrp="1"/>
          </p:cNvSpPr>
          <p:nvPr/>
        </p:nvSpPr>
        <p:spPr>
          <a:xfrm>
            <a:off x="10106025" y="57531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41C2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C21"/>
                </a:solidFill>
                <a:latin typeface="Aptos"/>
                <a:ea typeface="Aptos"/>
                <a:cs typeface="Aptos"/>
              </a:rPr>
              <a:t>RAM: 6.77%</a:t>
            </a:r>
          </a:p>
        </p:txBody>
      </p:sp>
    </p:spTree>
    <p:extLst>
      <p:ext uri="{BB962C8B-B14F-4D97-AF65-F5344CB8AC3E}">
        <p14:creationId xmlns:p14="http://schemas.microsoft.com/office/powerpoint/2010/main" val="20888223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2174</Words>
  <Application>Microsoft Office PowerPoint</Application>
  <DocSecurity>0</DocSecurity>
  <PresentationFormat>Widescreen</PresentationFormat>
  <Paragraphs>368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krishna.radhey101@outlook.com</cp:lastModifiedBy>
  <cp:revision>1</cp:revision>
  <dcterms:created xsi:type="dcterms:W3CDTF">2026-07-07T20:08:08Z</dcterms:created>
  <dcterms:modified xsi:type="dcterms:W3CDTF">2026-07-07T20:15:25Z</dcterms:modified>
</cp:coreProperties>
</file>